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5" r:id="rId9"/>
    <p:sldId id="262" r:id="rId10"/>
    <p:sldId id="263" r:id="rId11"/>
  </p:sldIdLst>
  <p:sldSz cx="14630400" cy="8229600"/>
  <p:notesSz cx="8229600" cy="14630400"/>
  <p:embeddedFontLst>
    <p:embeddedFont>
      <p:font typeface="Barlow" panose="00000500000000000000" pitchFamily="2" charset="0"/>
      <p:regular r:id="rId13"/>
    </p:embeddedFont>
    <p:embeddedFont>
      <p:font typeface="Consolas" panose="020B0609020204030204" pitchFamily="49"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6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D3ACE-88B4-41E6-894E-5D9E6082480C}" v="8" dt="2026-04-06T11:34:19.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rya saini" userId="88e7261e2a597525" providerId="LiveId" clId="{AB103601-6F8B-4814-BD7F-70E3CB3F4BB9}"/>
    <pc:docChg chg="undo custSel addSld modSld">
      <pc:chgData name="shorya saini" userId="88e7261e2a597525" providerId="LiveId" clId="{AB103601-6F8B-4814-BD7F-70E3CB3F4BB9}" dt="2026-04-06T11:34:19.465" v="36"/>
      <pc:docMkLst>
        <pc:docMk/>
      </pc:docMkLst>
      <pc:sldChg chg="addSp modSp mod">
        <pc:chgData name="shorya saini" userId="88e7261e2a597525" providerId="LiveId" clId="{AB103601-6F8B-4814-BD7F-70E3CB3F4BB9}" dt="2026-04-06T10:59:36.880" v="24" actId="208"/>
        <pc:sldMkLst>
          <pc:docMk/>
          <pc:sldMk cId="0" sldId="257"/>
        </pc:sldMkLst>
        <pc:spChg chg="mod">
          <ac:chgData name="shorya saini" userId="88e7261e2a597525" providerId="LiveId" clId="{AB103601-6F8B-4814-BD7F-70E3CB3F4BB9}" dt="2026-04-06T10:57:45.367" v="7" actId="14100"/>
          <ac:spMkLst>
            <pc:docMk/>
            <pc:sldMk cId="0" sldId="257"/>
            <ac:spMk id="3" creationId="{00000000-0000-0000-0000-000000000000}"/>
          </ac:spMkLst>
        </pc:spChg>
        <pc:spChg chg="mod">
          <ac:chgData name="shorya saini" userId="88e7261e2a597525" providerId="LiveId" clId="{AB103601-6F8B-4814-BD7F-70E3CB3F4BB9}" dt="2026-04-06T10:57:40.621" v="6" actId="14100"/>
          <ac:spMkLst>
            <pc:docMk/>
            <pc:sldMk cId="0" sldId="257"/>
            <ac:spMk id="4" creationId="{00000000-0000-0000-0000-000000000000}"/>
          </ac:spMkLst>
        </pc:spChg>
        <pc:spChg chg="add mod">
          <ac:chgData name="shorya saini" userId="88e7261e2a597525" providerId="LiveId" clId="{AB103601-6F8B-4814-BD7F-70E3CB3F4BB9}" dt="2026-04-06T10:59:36.880" v="24" actId="208"/>
          <ac:spMkLst>
            <pc:docMk/>
            <pc:sldMk cId="0" sldId="257"/>
            <ac:spMk id="15" creationId="{3C0E400B-497B-D66B-6E77-CF34149BCC5C}"/>
          </ac:spMkLst>
        </pc:spChg>
      </pc:sldChg>
      <pc:sldChg chg="addSp delSp modSp mod">
        <pc:chgData name="shorya saini" userId="88e7261e2a597525" providerId="LiveId" clId="{AB103601-6F8B-4814-BD7F-70E3CB3F4BB9}" dt="2026-04-06T10:59:55.801" v="27" actId="207"/>
        <pc:sldMkLst>
          <pc:docMk/>
          <pc:sldMk cId="0" sldId="258"/>
        </pc:sldMkLst>
        <pc:spChg chg="add del">
          <ac:chgData name="shorya saini" userId="88e7261e2a597525" providerId="LiveId" clId="{AB103601-6F8B-4814-BD7F-70E3CB3F4BB9}" dt="2026-04-06T10:58:33.976" v="11" actId="22"/>
          <ac:spMkLst>
            <pc:docMk/>
            <pc:sldMk cId="0" sldId="258"/>
            <ac:spMk id="20" creationId="{36E4E75E-962E-4C37-83EA-5FC7B37C3739}"/>
          </ac:spMkLst>
        </pc:spChg>
        <pc:spChg chg="add mod">
          <ac:chgData name="shorya saini" userId="88e7261e2a597525" providerId="LiveId" clId="{AB103601-6F8B-4814-BD7F-70E3CB3F4BB9}" dt="2026-04-06T10:59:55.801" v="27" actId="207"/>
          <ac:spMkLst>
            <pc:docMk/>
            <pc:sldMk cId="0" sldId="258"/>
            <ac:spMk id="21" creationId="{78B1A26A-864B-8BEE-CA46-A9AA5B547DB2}"/>
          </ac:spMkLst>
        </pc:spChg>
      </pc:sldChg>
      <pc:sldChg chg="addSp modSp mod">
        <pc:chgData name="shorya saini" userId="88e7261e2a597525" providerId="LiveId" clId="{AB103601-6F8B-4814-BD7F-70E3CB3F4BB9}" dt="2026-04-06T11:00:05.986" v="28" actId="208"/>
        <pc:sldMkLst>
          <pc:docMk/>
          <pc:sldMk cId="0" sldId="259"/>
        </pc:sldMkLst>
        <pc:spChg chg="add mod">
          <ac:chgData name="shorya saini" userId="88e7261e2a597525" providerId="LiveId" clId="{AB103601-6F8B-4814-BD7F-70E3CB3F4BB9}" dt="2026-04-06T11:00:05.986" v="28" actId="208"/>
          <ac:spMkLst>
            <pc:docMk/>
            <pc:sldMk cId="0" sldId="259"/>
            <ac:spMk id="22" creationId="{5723799A-4A5F-01E8-6428-BCBAAFA6C65D}"/>
          </ac:spMkLst>
        </pc:spChg>
      </pc:sldChg>
      <pc:sldChg chg="addSp modSp mod">
        <pc:chgData name="shorya saini" userId="88e7261e2a597525" providerId="LiveId" clId="{AB103601-6F8B-4814-BD7F-70E3CB3F4BB9}" dt="2026-04-06T11:00:13.545" v="29" actId="208"/>
        <pc:sldMkLst>
          <pc:docMk/>
          <pc:sldMk cId="0" sldId="260"/>
        </pc:sldMkLst>
        <pc:spChg chg="add mod">
          <ac:chgData name="shorya saini" userId="88e7261e2a597525" providerId="LiveId" clId="{AB103601-6F8B-4814-BD7F-70E3CB3F4BB9}" dt="2026-04-06T11:00:13.545" v="29" actId="208"/>
          <ac:spMkLst>
            <pc:docMk/>
            <pc:sldMk cId="0" sldId="260"/>
            <ac:spMk id="19" creationId="{084D7881-90AC-23E1-273B-6F099150B697}"/>
          </ac:spMkLst>
        </pc:spChg>
      </pc:sldChg>
      <pc:sldChg chg="addSp modSp mod">
        <pc:chgData name="shorya saini" userId="88e7261e2a597525" providerId="LiveId" clId="{AB103601-6F8B-4814-BD7F-70E3CB3F4BB9}" dt="2026-04-06T11:00:24.715" v="30" actId="208"/>
        <pc:sldMkLst>
          <pc:docMk/>
          <pc:sldMk cId="0" sldId="261"/>
        </pc:sldMkLst>
        <pc:spChg chg="add mod">
          <ac:chgData name="shorya saini" userId="88e7261e2a597525" providerId="LiveId" clId="{AB103601-6F8B-4814-BD7F-70E3CB3F4BB9}" dt="2026-04-06T11:00:24.715" v="30" actId="208"/>
          <ac:spMkLst>
            <pc:docMk/>
            <pc:sldMk cId="0" sldId="261"/>
            <ac:spMk id="21" creationId="{8310A902-9168-DCF5-98D7-2A076727BE02}"/>
          </ac:spMkLst>
        </pc:spChg>
      </pc:sldChg>
      <pc:sldChg chg="addSp modSp mod">
        <pc:chgData name="shorya saini" userId="88e7261e2a597525" providerId="LiveId" clId="{AB103601-6F8B-4814-BD7F-70E3CB3F4BB9}" dt="2026-04-06T11:00:31.771" v="31" actId="208"/>
        <pc:sldMkLst>
          <pc:docMk/>
          <pc:sldMk cId="0" sldId="262"/>
        </pc:sldMkLst>
        <pc:spChg chg="add mod">
          <ac:chgData name="shorya saini" userId="88e7261e2a597525" providerId="LiveId" clId="{AB103601-6F8B-4814-BD7F-70E3CB3F4BB9}" dt="2026-04-06T11:00:31.771" v="31" actId="208"/>
          <ac:spMkLst>
            <pc:docMk/>
            <pc:sldMk cId="0" sldId="262"/>
            <ac:spMk id="16" creationId="{CB58416A-DEED-C513-13DA-D6862BBB0989}"/>
          </ac:spMkLst>
        </pc:spChg>
      </pc:sldChg>
      <pc:sldChg chg="addSp modSp mod">
        <pc:chgData name="shorya saini" userId="88e7261e2a597525" providerId="LiveId" clId="{AB103601-6F8B-4814-BD7F-70E3CB3F4BB9}" dt="2026-04-06T11:00:38.507" v="32" actId="208"/>
        <pc:sldMkLst>
          <pc:docMk/>
          <pc:sldMk cId="0" sldId="263"/>
        </pc:sldMkLst>
        <pc:spChg chg="add mod">
          <ac:chgData name="shorya saini" userId="88e7261e2a597525" providerId="LiveId" clId="{AB103601-6F8B-4814-BD7F-70E3CB3F4BB9}" dt="2026-04-06T11:00:38.507" v="32" actId="208"/>
          <ac:spMkLst>
            <pc:docMk/>
            <pc:sldMk cId="0" sldId="263"/>
            <ac:spMk id="20" creationId="{A80ACB40-265C-6349-D989-F7D1ED564896}"/>
          </ac:spMkLst>
        </pc:spChg>
      </pc:sldChg>
      <pc:sldChg chg="addSp modSp new">
        <pc:chgData name="shorya saini" userId="88e7261e2a597525" providerId="LiveId" clId="{AB103601-6F8B-4814-BD7F-70E3CB3F4BB9}" dt="2026-04-06T11:34:16.391" v="35"/>
        <pc:sldMkLst>
          <pc:docMk/>
          <pc:sldMk cId="257954217" sldId="264"/>
        </pc:sldMkLst>
        <pc:spChg chg="add mod">
          <ac:chgData name="shorya saini" userId="88e7261e2a597525" providerId="LiveId" clId="{AB103601-6F8B-4814-BD7F-70E3CB3F4BB9}" dt="2026-04-06T11:34:16.391" v="35"/>
          <ac:spMkLst>
            <pc:docMk/>
            <pc:sldMk cId="257954217" sldId="264"/>
            <ac:spMk id="2" creationId="{686D2A1C-4087-B436-1BDA-1C2EE3DC6CD7}"/>
          </ac:spMkLst>
        </pc:spChg>
      </pc:sldChg>
      <pc:sldChg chg="addSp modSp new">
        <pc:chgData name="shorya saini" userId="88e7261e2a597525" providerId="LiveId" clId="{AB103601-6F8B-4814-BD7F-70E3CB3F4BB9}" dt="2026-04-06T11:34:19.465" v="36"/>
        <pc:sldMkLst>
          <pc:docMk/>
          <pc:sldMk cId="1814423717" sldId="265"/>
        </pc:sldMkLst>
        <pc:spChg chg="add mod">
          <ac:chgData name="shorya saini" userId="88e7261e2a597525" providerId="LiveId" clId="{AB103601-6F8B-4814-BD7F-70E3CB3F4BB9}" dt="2026-04-06T11:34:19.465" v="36"/>
          <ac:spMkLst>
            <pc:docMk/>
            <pc:sldMk cId="1814423717" sldId="265"/>
            <ac:spMk id="2" creationId="{E3EAEB80-7D94-913E-E361-FD3A5F6A9E1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896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81063" y="3161348"/>
            <a:ext cx="7381875" cy="1223963"/>
          </a:xfrm>
          <a:prstGeom prst="rect">
            <a:avLst/>
          </a:prstGeom>
          <a:noFill/>
          <a:ln/>
        </p:spPr>
        <p:txBody>
          <a:bodyPr wrap="square" lIns="0" tIns="0" rIns="0" bIns="0" rtlCol="0" anchor="t"/>
          <a:lstStyle/>
          <a:p>
            <a:pPr marL="0" indent="0" algn="l">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Regular Expressions in Theory of Computation</a:t>
            </a:r>
            <a:endParaRPr lang="en-US" sz="3850" dirty="0"/>
          </a:p>
        </p:txBody>
      </p:sp>
      <p:sp>
        <p:nvSpPr>
          <p:cNvPr id="4" name="Text 1"/>
          <p:cNvSpPr/>
          <p:nvPr/>
        </p:nvSpPr>
        <p:spPr>
          <a:xfrm>
            <a:off x="881063" y="4715708"/>
            <a:ext cx="7381875" cy="352425"/>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Definition, Concepts, and Applications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843088" y="567928"/>
            <a:ext cx="5834420" cy="433626"/>
          </a:xfrm>
          <a:prstGeom prst="rect">
            <a:avLst/>
          </a:prstGeom>
          <a:noFill/>
          <a:ln/>
        </p:spPr>
        <p:txBody>
          <a:bodyPr wrap="none" lIns="0" tIns="0" rIns="0" bIns="0" rtlCol="0" anchor="t"/>
          <a:lstStyle/>
          <a:p>
            <a:pPr marL="0" indent="0" algn="l">
              <a:lnSpc>
                <a:spcPts val="3400"/>
              </a:lnSpc>
              <a:buNone/>
            </a:pPr>
            <a:r>
              <a:rPr lang="en-US" sz="2700" b="1" dirty="0">
                <a:solidFill>
                  <a:srgbClr val="F0FCFF"/>
                </a:solidFill>
                <a:latin typeface="Spline Sans Bold" pitchFamily="34" charset="0"/>
                <a:ea typeface="Spline Sans Bold" pitchFamily="34" charset="-122"/>
                <a:cs typeface="Spline Sans Bold" pitchFamily="34" charset="-120"/>
              </a:rPr>
              <a:t>Introduction to Regular Expressions</a:t>
            </a:r>
            <a:endParaRPr lang="en-US" sz="2700" dirty="0"/>
          </a:p>
        </p:txBody>
      </p:sp>
      <p:sp>
        <p:nvSpPr>
          <p:cNvPr id="3" name="Text 1"/>
          <p:cNvSpPr/>
          <p:nvPr/>
        </p:nvSpPr>
        <p:spPr>
          <a:xfrm>
            <a:off x="769434" y="1267063"/>
            <a:ext cx="6355386" cy="1688010"/>
          </a:xfrm>
          <a:prstGeom prst="rect">
            <a:avLst/>
          </a:prstGeom>
          <a:noFill/>
          <a:ln/>
        </p:spPr>
        <p:txBody>
          <a:bodyPr wrap="square" lIns="0" tIns="0" rIns="0" bIns="0" rtlCol="0" anchor="t"/>
          <a:lstStyle/>
          <a:p>
            <a:pPr marL="0" indent="0" algn="l">
              <a:lnSpc>
                <a:spcPts val="1650"/>
              </a:lnSpc>
              <a:buNone/>
            </a:pPr>
            <a:r>
              <a:rPr lang="en-US" sz="2000" dirty="0">
                <a:solidFill>
                  <a:srgbClr val="E0E4E6"/>
                </a:solidFill>
                <a:latin typeface="Barlow" pitchFamily="34" charset="0"/>
                <a:ea typeface="Barlow" pitchFamily="34" charset="-122"/>
                <a:cs typeface="Barlow" pitchFamily="34" charset="-120"/>
              </a:rPr>
              <a:t>Regular expressions (RE) are a formal language for describing patterns in strings. In the Theory of Computation, they serve as a powerful tool for specifying sets of strings over a given alphabet. These patterns can represent simple character matches or complex string structures, making them fundamental to understanding formal languages.</a:t>
            </a:r>
            <a:endParaRPr lang="en-US" sz="2000" dirty="0"/>
          </a:p>
        </p:txBody>
      </p:sp>
      <p:sp>
        <p:nvSpPr>
          <p:cNvPr id="4" name="Text 2"/>
          <p:cNvSpPr/>
          <p:nvPr/>
        </p:nvSpPr>
        <p:spPr>
          <a:xfrm>
            <a:off x="769435" y="3485315"/>
            <a:ext cx="6355386" cy="2410423"/>
          </a:xfrm>
          <a:prstGeom prst="rect">
            <a:avLst/>
          </a:prstGeom>
          <a:noFill/>
          <a:ln/>
        </p:spPr>
        <p:txBody>
          <a:bodyPr wrap="square" lIns="0" tIns="0" rIns="0" bIns="0" rtlCol="0" anchor="t"/>
          <a:lstStyle/>
          <a:p>
            <a:pPr marL="0" indent="0" algn="l">
              <a:lnSpc>
                <a:spcPts val="1650"/>
              </a:lnSpc>
              <a:buNone/>
            </a:pPr>
            <a:r>
              <a:rPr lang="en-US" sz="2000" dirty="0">
                <a:solidFill>
                  <a:srgbClr val="E0E4E6"/>
                </a:solidFill>
                <a:latin typeface="Barlow" pitchFamily="34" charset="0"/>
                <a:ea typeface="Barlow" pitchFamily="34" charset="-122"/>
                <a:cs typeface="Barlow" pitchFamily="34" charset="-120"/>
              </a:rPr>
              <a:t>Regular expressions play a crucial role in connecting abstract computation models with practical applications. They bridge the gap between theoretical automata and real-world pattern matching, forming the foundation for text processing, compiler design, and formal language theory.</a:t>
            </a:r>
            <a:endParaRPr lang="en-US" sz="2000" dirty="0"/>
          </a:p>
        </p:txBody>
      </p:sp>
      <p:pic>
        <p:nvPicPr>
          <p:cNvPr id="5" name="Image 0" descr="preencoded.png"/>
          <p:cNvPicPr>
            <a:picLocks noChangeAspect="1"/>
          </p:cNvPicPr>
          <p:nvPr/>
        </p:nvPicPr>
        <p:blipFill>
          <a:blip r:embed="rId3"/>
          <a:stretch>
            <a:fillRect/>
          </a:stretch>
        </p:blipFill>
        <p:spPr>
          <a:xfrm>
            <a:off x="7513201" y="1291947"/>
            <a:ext cx="5281732" cy="5281732"/>
          </a:xfrm>
          <a:prstGeom prst="rect">
            <a:avLst/>
          </a:prstGeom>
        </p:spPr>
      </p:pic>
      <p:sp>
        <p:nvSpPr>
          <p:cNvPr id="6" name="Shape 3"/>
          <p:cNvSpPr/>
          <p:nvPr/>
        </p:nvSpPr>
        <p:spPr>
          <a:xfrm>
            <a:off x="1843088" y="6822519"/>
            <a:ext cx="3574256" cy="839153"/>
          </a:xfrm>
          <a:prstGeom prst="roundRect">
            <a:avLst>
              <a:gd name="adj" fmla="val 27909"/>
            </a:avLst>
          </a:prstGeom>
          <a:solidFill>
            <a:srgbClr val="0A081B"/>
          </a:solidFill>
          <a:ln w="15240">
            <a:solidFill>
              <a:srgbClr val="16FFBB"/>
            </a:solidFill>
            <a:prstDash val="solid"/>
          </a:ln>
        </p:spPr>
      </p:sp>
      <p:sp>
        <p:nvSpPr>
          <p:cNvPr id="7" name="Text 4"/>
          <p:cNvSpPr/>
          <p:nvPr/>
        </p:nvSpPr>
        <p:spPr>
          <a:xfrm>
            <a:off x="2014418" y="6993850"/>
            <a:ext cx="1734741" cy="216813"/>
          </a:xfrm>
          <a:prstGeom prst="rect">
            <a:avLst/>
          </a:prstGeom>
          <a:noFill/>
          <a:ln/>
        </p:spPr>
        <p:txBody>
          <a:bodyPr wrap="none" lIns="0" tIns="0" rIns="0" bIns="0" rtlCol="0" anchor="t"/>
          <a:lstStyle/>
          <a:p>
            <a:pPr marL="0" indent="0" algn="l">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Pattern Matching</a:t>
            </a:r>
            <a:endParaRPr lang="en-US" sz="1350" dirty="0"/>
          </a:p>
        </p:txBody>
      </p:sp>
      <p:sp>
        <p:nvSpPr>
          <p:cNvPr id="8" name="Text 5"/>
          <p:cNvSpPr/>
          <p:nvPr/>
        </p:nvSpPr>
        <p:spPr>
          <a:xfrm>
            <a:off x="2014418" y="7276981"/>
            <a:ext cx="3231594" cy="213360"/>
          </a:xfrm>
          <a:prstGeom prst="rect">
            <a:avLst/>
          </a:prstGeom>
          <a:noFill/>
          <a:ln/>
        </p:spPr>
        <p:txBody>
          <a:bodyPr wrap="none" lIns="0" tIns="0" rIns="0" bIns="0" rtlCol="0" anchor="t"/>
          <a:lstStyle/>
          <a:p>
            <a:pPr marL="0" indent="0" algn="l">
              <a:lnSpc>
                <a:spcPts val="1650"/>
              </a:lnSpc>
              <a:buNone/>
            </a:pPr>
            <a:r>
              <a:rPr lang="en-US" sz="1200" dirty="0">
                <a:solidFill>
                  <a:srgbClr val="E0E4E6"/>
                </a:solidFill>
                <a:latin typeface="Barlow" pitchFamily="34" charset="0"/>
                <a:ea typeface="Barlow" pitchFamily="34" charset="-122"/>
                <a:cs typeface="Barlow" pitchFamily="34" charset="-120"/>
              </a:rPr>
              <a:t>Search engines, text editors, and data validation</a:t>
            </a:r>
            <a:endParaRPr lang="en-US" sz="1200" dirty="0"/>
          </a:p>
        </p:txBody>
      </p:sp>
      <p:sp>
        <p:nvSpPr>
          <p:cNvPr id="9" name="Shape 6"/>
          <p:cNvSpPr/>
          <p:nvPr/>
        </p:nvSpPr>
        <p:spPr>
          <a:xfrm>
            <a:off x="5527953" y="6822519"/>
            <a:ext cx="3574375" cy="839153"/>
          </a:xfrm>
          <a:prstGeom prst="roundRect">
            <a:avLst>
              <a:gd name="adj" fmla="val 27909"/>
            </a:avLst>
          </a:prstGeom>
          <a:solidFill>
            <a:srgbClr val="0A081B"/>
          </a:solidFill>
          <a:ln w="15240">
            <a:solidFill>
              <a:srgbClr val="29DDDA"/>
            </a:solidFill>
            <a:prstDash val="solid"/>
          </a:ln>
        </p:spPr>
      </p:sp>
      <p:sp>
        <p:nvSpPr>
          <p:cNvPr id="10" name="Text 7"/>
          <p:cNvSpPr/>
          <p:nvPr/>
        </p:nvSpPr>
        <p:spPr>
          <a:xfrm>
            <a:off x="5699284" y="6993850"/>
            <a:ext cx="1734741" cy="216813"/>
          </a:xfrm>
          <a:prstGeom prst="rect">
            <a:avLst/>
          </a:prstGeom>
          <a:noFill/>
          <a:ln/>
        </p:spPr>
        <p:txBody>
          <a:bodyPr wrap="none" lIns="0" tIns="0" rIns="0" bIns="0" rtlCol="0" anchor="t"/>
          <a:lstStyle/>
          <a:p>
            <a:pPr marL="0" indent="0" algn="l">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Compiler Design</a:t>
            </a:r>
            <a:endParaRPr lang="en-US" sz="1350" dirty="0"/>
          </a:p>
        </p:txBody>
      </p:sp>
      <p:sp>
        <p:nvSpPr>
          <p:cNvPr id="11" name="Text 8"/>
          <p:cNvSpPr/>
          <p:nvPr/>
        </p:nvSpPr>
        <p:spPr>
          <a:xfrm>
            <a:off x="5699284" y="7276981"/>
            <a:ext cx="3231713" cy="213360"/>
          </a:xfrm>
          <a:prstGeom prst="rect">
            <a:avLst/>
          </a:prstGeom>
          <a:noFill/>
          <a:ln/>
        </p:spPr>
        <p:txBody>
          <a:bodyPr wrap="none" lIns="0" tIns="0" rIns="0" bIns="0" rtlCol="0" anchor="t"/>
          <a:lstStyle/>
          <a:p>
            <a:pPr marL="0" indent="0" algn="l">
              <a:lnSpc>
                <a:spcPts val="1650"/>
              </a:lnSpc>
              <a:buNone/>
            </a:pPr>
            <a:r>
              <a:rPr lang="en-US" sz="1200" dirty="0">
                <a:solidFill>
                  <a:srgbClr val="E0E4E6"/>
                </a:solidFill>
                <a:latin typeface="Barlow" pitchFamily="34" charset="0"/>
                <a:ea typeface="Barlow" pitchFamily="34" charset="-122"/>
                <a:cs typeface="Barlow" pitchFamily="34" charset="-120"/>
              </a:rPr>
              <a:t>Lexical analysis and token recognition</a:t>
            </a:r>
            <a:endParaRPr lang="en-US" sz="1200" dirty="0"/>
          </a:p>
        </p:txBody>
      </p:sp>
      <p:sp>
        <p:nvSpPr>
          <p:cNvPr id="12" name="Shape 9"/>
          <p:cNvSpPr/>
          <p:nvPr/>
        </p:nvSpPr>
        <p:spPr>
          <a:xfrm>
            <a:off x="9212937" y="6822519"/>
            <a:ext cx="3574375" cy="839153"/>
          </a:xfrm>
          <a:prstGeom prst="roundRect">
            <a:avLst>
              <a:gd name="adj" fmla="val 27909"/>
            </a:avLst>
          </a:prstGeom>
          <a:solidFill>
            <a:srgbClr val="0A081B"/>
          </a:solidFill>
          <a:ln w="15240">
            <a:solidFill>
              <a:srgbClr val="37A7E7"/>
            </a:solidFill>
            <a:prstDash val="solid"/>
          </a:ln>
        </p:spPr>
      </p:sp>
      <p:sp>
        <p:nvSpPr>
          <p:cNvPr id="13" name="Text 10"/>
          <p:cNvSpPr/>
          <p:nvPr/>
        </p:nvSpPr>
        <p:spPr>
          <a:xfrm>
            <a:off x="9384268" y="6993850"/>
            <a:ext cx="1734741" cy="216813"/>
          </a:xfrm>
          <a:prstGeom prst="rect">
            <a:avLst/>
          </a:prstGeom>
          <a:noFill/>
          <a:ln/>
        </p:spPr>
        <p:txBody>
          <a:bodyPr wrap="none" lIns="0" tIns="0" rIns="0" bIns="0" rtlCol="0" anchor="t"/>
          <a:lstStyle/>
          <a:p>
            <a:pPr marL="0" indent="0" algn="l">
              <a:lnSpc>
                <a:spcPts val="1700"/>
              </a:lnSpc>
              <a:buNone/>
            </a:pPr>
            <a:r>
              <a:rPr lang="en-US" sz="1350" b="1" dirty="0">
                <a:solidFill>
                  <a:srgbClr val="E0E4E6"/>
                </a:solidFill>
                <a:latin typeface="Spline Sans Bold" pitchFamily="34" charset="0"/>
                <a:ea typeface="Spline Sans Bold" pitchFamily="34" charset="-122"/>
                <a:cs typeface="Spline Sans Bold" pitchFamily="34" charset="-120"/>
              </a:rPr>
              <a:t>Formal Languages</a:t>
            </a:r>
            <a:endParaRPr lang="en-US" sz="1350" dirty="0"/>
          </a:p>
        </p:txBody>
      </p:sp>
      <p:sp>
        <p:nvSpPr>
          <p:cNvPr id="14" name="Text 11"/>
          <p:cNvSpPr/>
          <p:nvPr/>
        </p:nvSpPr>
        <p:spPr>
          <a:xfrm>
            <a:off x="9384268" y="7276981"/>
            <a:ext cx="3231713" cy="213360"/>
          </a:xfrm>
          <a:prstGeom prst="rect">
            <a:avLst/>
          </a:prstGeom>
          <a:noFill/>
          <a:ln/>
        </p:spPr>
        <p:txBody>
          <a:bodyPr wrap="none" lIns="0" tIns="0" rIns="0" bIns="0" rtlCol="0" anchor="t"/>
          <a:lstStyle/>
          <a:p>
            <a:pPr marL="0" indent="0" algn="l">
              <a:lnSpc>
                <a:spcPts val="1650"/>
              </a:lnSpc>
              <a:buNone/>
            </a:pPr>
            <a:r>
              <a:rPr lang="en-US" sz="1200" dirty="0">
                <a:solidFill>
                  <a:srgbClr val="E0E4E6"/>
                </a:solidFill>
                <a:latin typeface="Barlow" pitchFamily="34" charset="0"/>
                <a:ea typeface="Barlow" pitchFamily="34" charset="-122"/>
                <a:cs typeface="Barlow" pitchFamily="34" charset="-120"/>
              </a:rPr>
              <a:t>Characterizing regular language families</a:t>
            </a:r>
            <a:endParaRPr lang="en-US" sz="1200" dirty="0"/>
          </a:p>
        </p:txBody>
      </p:sp>
      <p:sp>
        <p:nvSpPr>
          <p:cNvPr id="15" name="Rectangle 14">
            <a:extLst>
              <a:ext uri="{FF2B5EF4-FFF2-40B4-BE49-F238E27FC236}">
                <a16:creationId xmlns:a16="http://schemas.microsoft.com/office/drawing/2014/main" id="{3C0E400B-497B-D66B-6E77-CF34149BCC5C}"/>
              </a:ext>
            </a:extLst>
          </p:cNvPr>
          <p:cNvSpPr/>
          <p:nvPr/>
        </p:nvSpPr>
        <p:spPr>
          <a:xfrm>
            <a:off x="12787312" y="7645227"/>
            <a:ext cx="1843088" cy="530569"/>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81063" y="1430893"/>
            <a:ext cx="8634770" cy="611981"/>
          </a:xfrm>
          <a:prstGeom prst="rect">
            <a:avLst/>
          </a:prstGeom>
          <a:noFill/>
          <a:ln/>
        </p:spPr>
        <p:txBody>
          <a:bodyPr wrap="none" lIns="0" tIns="0" rIns="0" bIns="0" rtlCol="0" anchor="t"/>
          <a:lstStyle/>
          <a:p>
            <a:pPr marL="0" indent="0" algn="l">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Basic Symbols in Regular Expressions</a:t>
            </a:r>
            <a:endParaRPr lang="en-US" sz="3850" dirty="0"/>
          </a:p>
        </p:txBody>
      </p:sp>
      <p:sp>
        <p:nvSpPr>
          <p:cNvPr id="3" name="Text 1"/>
          <p:cNvSpPr/>
          <p:nvPr/>
        </p:nvSpPr>
        <p:spPr>
          <a:xfrm>
            <a:off x="881063" y="2483406"/>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Regular expressions are built using three fundamental operations that allow us to construct increasingly complex patterns. Understanding these basic building blocks is essential for working with more sophisticated expressions.</a:t>
            </a:r>
            <a:endParaRPr lang="en-US" sz="1700" dirty="0"/>
          </a:p>
        </p:txBody>
      </p:sp>
      <p:sp>
        <p:nvSpPr>
          <p:cNvPr id="4" name="Shape 2"/>
          <p:cNvSpPr/>
          <p:nvPr/>
        </p:nvSpPr>
        <p:spPr>
          <a:xfrm>
            <a:off x="881063" y="3436025"/>
            <a:ext cx="4142542" cy="3362563"/>
          </a:xfrm>
          <a:prstGeom prst="roundRect">
            <a:avLst>
              <a:gd name="adj" fmla="val 9827"/>
            </a:avLst>
          </a:prstGeom>
          <a:solidFill>
            <a:srgbClr val="0A081B">
              <a:alpha val="75000"/>
            </a:srgbClr>
          </a:solidFill>
          <a:ln w="30480">
            <a:solidFill>
              <a:srgbClr val="16FFBB"/>
            </a:solidFill>
            <a:prstDash val="solid"/>
          </a:ln>
        </p:spPr>
      </p:sp>
      <p:sp>
        <p:nvSpPr>
          <p:cNvPr id="5" name="Shape 3"/>
          <p:cNvSpPr/>
          <p:nvPr/>
        </p:nvSpPr>
        <p:spPr>
          <a:xfrm>
            <a:off x="911543" y="3466505"/>
            <a:ext cx="4081582" cy="660797"/>
          </a:xfrm>
          <a:prstGeom prst="roundRect">
            <a:avLst>
              <a:gd name="adj" fmla="val 44472"/>
            </a:avLst>
          </a:prstGeom>
          <a:solidFill>
            <a:srgbClr val="0A081B"/>
          </a:solidFill>
          <a:ln/>
        </p:spPr>
      </p:sp>
      <p:sp>
        <p:nvSpPr>
          <p:cNvPr id="6" name="Text 4"/>
          <p:cNvSpPr/>
          <p:nvPr/>
        </p:nvSpPr>
        <p:spPr>
          <a:xfrm>
            <a:off x="2787134" y="3578900"/>
            <a:ext cx="330398" cy="413028"/>
          </a:xfrm>
          <a:prstGeom prst="rect">
            <a:avLst/>
          </a:prstGeom>
          <a:noFill/>
          <a:ln/>
        </p:spPr>
        <p:txBody>
          <a:bodyPr wrap="none" lIns="0" tIns="0" rIns="0" bIns="0" rtlCol="0" anchor="t"/>
          <a:lstStyle/>
          <a:p>
            <a:pPr marL="0" indent="0" algn="l">
              <a:lnSpc>
                <a:spcPts val="2600"/>
              </a:lnSpc>
              <a:buNone/>
            </a:pPr>
            <a:r>
              <a:rPr lang="en-US" sz="2600" b="1" dirty="0">
                <a:solidFill>
                  <a:srgbClr val="E0E4E6"/>
                </a:solidFill>
                <a:latin typeface="Spline Sans Bold" pitchFamily="34" charset="0"/>
                <a:ea typeface="Spline Sans Bold" pitchFamily="34" charset="-122"/>
                <a:cs typeface="Spline Sans Bold" pitchFamily="34" charset="-120"/>
              </a:rPr>
              <a:t>1</a:t>
            </a:r>
            <a:endParaRPr lang="en-US" sz="2600" dirty="0"/>
          </a:p>
        </p:txBody>
      </p:sp>
      <p:sp>
        <p:nvSpPr>
          <p:cNvPr id="7" name="Text 5"/>
          <p:cNvSpPr/>
          <p:nvPr/>
        </p:nvSpPr>
        <p:spPr>
          <a:xfrm>
            <a:off x="1131808" y="4347567"/>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Union (| or +)</a:t>
            </a:r>
            <a:endParaRPr lang="en-US" sz="1900" dirty="0"/>
          </a:p>
        </p:txBody>
      </p:sp>
      <p:sp>
        <p:nvSpPr>
          <p:cNvPr id="8" name="Text 6"/>
          <p:cNvSpPr/>
          <p:nvPr/>
        </p:nvSpPr>
        <p:spPr>
          <a:xfrm>
            <a:off x="1131808" y="4785717"/>
            <a:ext cx="3641050" cy="176212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Matches either the left or right expression. For example, </a:t>
            </a:r>
            <a:r>
              <a:rPr lang="en-US" sz="1700" dirty="0">
                <a:solidFill>
                  <a:srgbClr val="E0E4E6"/>
                </a:solidFill>
                <a:highlight>
                  <a:srgbClr val="171528"/>
                </a:highlight>
                <a:latin typeface="Consolas" pitchFamily="34" charset="0"/>
                <a:ea typeface="Consolas" pitchFamily="34" charset="-122"/>
                <a:cs typeface="Consolas" pitchFamily="34" charset="-120"/>
              </a:rPr>
              <a:t>a|b</a:t>
            </a:r>
            <a:r>
              <a:rPr lang="en-US" sz="1700" dirty="0">
                <a:solidFill>
                  <a:srgbClr val="E0E4E6"/>
                </a:solidFill>
                <a:latin typeface="Barlow" pitchFamily="34" charset="0"/>
                <a:ea typeface="Barlow" pitchFamily="34" charset="-122"/>
                <a:cs typeface="Barlow" pitchFamily="34" charset="-120"/>
              </a:rPr>
              <a:t> matches either 'a' or 'b'. In the alphabet {0,1}, the expression </a:t>
            </a:r>
            <a:r>
              <a:rPr lang="en-US" sz="1700" dirty="0">
                <a:solidFill>
                  <a:srgbClr val="E0E4E6"/>
                </a:solidFill>
                <a:highlight>
                  <a:srgbClr val="171528"/>
                </a:highlight>
                <a:latin typeface="Consolas" pitchFamily="34" charset="0"/>
                <a:ea typeface="Consolas" pitchFamily="34" charset="-122"/>
                <a:cs typeface="Consolas" pitchFamily="34" charset="-120"/>
              </a:rPr>
              <a:t>0|1</a:t>
            </a:r>
            <a:r>
              <a:rPr lang="en-US" sz="1700" dirty="0">
                <a:solidFill>
                  <a:srgbClr val="E0E4E6"/>
                </a:solidFill>
                <a:latin typeface="Barlow" pitchFamily="34" charset="0"/>
                <a:ea typeface="Barlow" pitchFamily="34" charset="-122"/>
                <a:cs typeface="Barlow" pitchFamily="34" charset="-120"/>
              </a:rPr>
              <a:t> matches a single bit that can be either 0 or 1.</a:t>
            </a:r>
            <a:endParaRPr lang="en-US" sz="1700" dirty="0"/>
          </a:p>
        </p:txBody>
      </p:sp>
      <p:sp>
        <p:nvSpPr>
          <p:cNvPr id="9" name="Shape 7"/>
          <p:cNvSpPr/>
          <p:nvPr/>
        </p:nvSpPr>
        <p:spPr>
          <a:xfrm>
            <a:off x="5243870" y="3436025"/>
            <a:ext cx="4142542" cy="3362563"/>
          </a:xfrm>
          <a:prstGeom prst="roundRect">
            <a:avLst>
              <a:gd name="adj" fmla="val 9827"/>
            </a:avLst>
          </a:prstGeom>
          <a:solidFill>
            <a:srgbClr val="0A081B">
              <a:alpha val="75000"/>
            </a:srgbClr>
          </a:solidFill>
          <a:ln w="30480">
            <a:solidFill>
              <a:srgbClr val="29DDDA"/>
            </a:solidFill>
            <a:prstDash val="solid"/>
          </a:ln>
        </p:spPr>
      </p:sp>
      <p:sp>
        <p:nvSpPr>
          <p:cNvPr id="10" name="Shape 8"/>
          <p:cNvSpPr/>
          <p:nvPr/>
        </p:nvSpPr>
        <p:spPr>
          <a:xfrm>
            <a:off x="5274350" y="3466505"/>
            <a:ext cx="4081582" cy="660797"/>
          </a:xfrm>
          <a:prstGeom prst="roundRect">
            <a:avLst>
              <a:gd name="adj" fmla="val 44472"/>
            </a:avLst>
          </a:prstGeom>
          <a:solidFill>
            <a:srgbClr val="0A081B"/>
          </a:solidFill>
          <a:ln/>
        </p:spPr>
      </p:sp>
      <p:sp>
        <p:nvSpPr>
          <p:cNvPr id="11" name="Text 9"/>
          <p:cNvSpPr/>
          <p:nvPr/>
        </p:nvSpPr>
        <p:spPr>
          <a:xfrm>
            <a:off x="7149941" y="3578900"/>
            <a:ext cx="330398" cy="413028"/>
          </a:xfrm>
          <a:prstGeom prst="rect">
            <a:avLst/>
          </a:prstGeom>
          <a:noFill/>
          <a:ln/>
        </p:spPr>
        <p:txBody>
          <a:bodyPr wrap="none" lIns="0" tIns="0" rIns="0" bIns="0" rtlCol="0" anchor="t"/>
          <a:lstStyle/>
          <a:p>
            <a:pPr marL="0" indent="0" algn="l">
              <a:lnSpc>
                <a:spcPts val="2600"/>
              </a:lnSpc>
              <a:buNone/>
            </a:pPr>
            <a:r>
              <a:rPr lang="en-US" sz="2600" b="1" dirty="0">
                <a:solidFill>
                  <a:srgbClr val="E0E4E6"/>
                </a:solidFill>
                <a:latin typeface="Spline Sans Bold" pitchFamily="34" charset="0"/>
                <a:ea typeface="Spline Sans Bold" pitchFamily="34" charset="-122"/>
                <a:cs typeface="Spline Sans Bold" pitchFamily="34" charset="-120"/>
              </a:rPr>
              <a:t>2</a:t>
            </a:r>
            <a:endParaRPr lang="en-US" sz="2600" dirty="0"/>
          </a:p>
        </p:txBody>
      </p:sp>
      <p:sp>
        <p:nvSpPr>
          <p:cNvPr id="12" name="Text 10"/>
          <p:cNvSpPr/>
          <p:nvPr/>
        </p:nvSpPr>
        <p:spPr>
          <a:xfrm>
            <a:off x="5494615" y="4347567"/>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Concatenation</a:t>
            </a:r>
            <a:endParaRPr lang="en-US" sz="1900" dirty="0"/>
          </a:p>
        </p:txBody>
      </p:sp>
      <p:sp>
        <p:nvSpPr>
          <p:cNvPr id="13" name="Text 11"/>
          <p:cNvSpPr/>
          <p:nvPr/>
        </p:nvSpPr>
        <p:spPr>
          <a:xfrm>
            <a:off x="5494615" y="4785717"/>
            <a:ext cx="3641050" cy="176212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Joins expressions sequentially. The expression </a:t>
            </a:r>
            <a:r>
              <a:rPr lang="en-US" sz="1700" dirty="0">
                <a:solidFill>
                  <a:srgbClr val="E0E4E6"/>
                </a:solidFill>
                <a:highlight>
                  <a:srgbClr val="171528"/>
                </a:highlight>
                <a:latin typeface="Consolas" pitchFamily="34" charset="0"/>
                <a:ea typeface="Consolas" pitchFamily="34" charset="-122"/>
                <a:cs typeface="Consolas" pitchFamily="34" charset="-120"/>
              </a:rPr>
              <a:t>ab</a:t>
            </a:r>
            <a:r>
              <a:rPr lang="en-US" sz="1700" dirty="0">
                <a:solidFill>
                  <a:srgbClr val="E0E4E6"/>
                </a:solidFill>
                <a:latin typeface="Barlow" pitchFamily="34" charset="0"/>
                <a:ea typeface="Barlow" pitchFamily="34" charset="-122"/>
                <a:cs typeface="Barlow" pitchFamily="34" charset="-120"/>
              </a:rPr>
              <a:t> matches the string "ab" specifically. For binary strings, </a:t>
            </a:r>
            <a:r>
              <a:rPr lang="en-US" sz="1700" dirty="0">
                <a:solidFill>
                  <a:srgbClr val="E0E4E6"/>
                </a:solidFill>
                <a:highlight>
                  <a:srgbClr val="171528"/>
                </a:highlight>
                <a:latin typeface="Consolas" pitchFamily="34" charset="0"/>
                <a:ea typeface="Consolas" pitchFamily="34" charset="-122"/>
                <a:cs typeface="Consolas" pitchFamily="34" charset="-120"/>
              </a:rPr>
              <a:t>01</a:t>
            </a:r>
            <a:r>
              <a:rPr lang="en-US" sz="1700" dirty="0">
                <a:solidFill>
                  <a:srgbClr val="E0E4E6"/>
                </a:solidFill>
                <a:latin typeface="Barlow" pitchFamily="34" charset="0"/>
                <a:ea typeface="Barlow" pitchFamily="34" charset="-122"/>
                <a:cs typeface="Barlow" pitchFamily="34" charset="-120"/>
              </a:rPr>
              <a:t> matches only the string containing 0 followed by 1.</a:t>
            </a:r>
            <a:endParaRPr lang="en-US" sz="1700" dirty="0"/>
          </a:p>
        </p:txBody>
      </p:sp>
      <p:sp>
        <p:nvSpPr>
          <p:cNvPr id="14" name="Shape 12"/>
          <p:cNvSpPr/>
          <p:nvPr/>
        </p:nvSpPr>
        <p:spPr>
          <a:xfrm>
            <a:off x="9606677" y="3436025"/>
            <a:ext cx="4142542" cy="3362563"/>
          </a:xfrm>
          <a:prstGeom prst="roundRect">
            <a:avLst>
              <a:gd name="adj" fmla="val 9827"/>
            </a:avLst>
          </a:prstGeom>
          <a:solidFill>
            <a:srgbClr val="0A081B">
              <a:alpha val="75000"/>
            </a:srgbClr>
          </a:solidFill>
          <a:ln w="30480">
            <a:solidFill>
              <a:srgbClr val="37A7E7"/>
            </a:solidFill>
            <a:prstDash val="solid"/>
          </a:ln>
        </p:spPr>
      </p:sp>
      <p:sp>
        <p:nvSpPr>
          <p:cNvPr id="15" name="Shape 13"/>
          <p:cNvSpPr/>
          <p:nvPr/>
        </p:nvSpPr>
        <p:spPr>
          <a:xfrm>
            <a:off x="9637157" y="3466505"/>
            <a:ext cx="4081582" cy="660797"/>
          </a:xfrm>
          <a:prstGeom prst="roundRect">
            <a:avLst>
              <a:gd name="adj" fmla="val 44472"/>
            </a:avLst>
          </a:prstGeom>
          <a:solidFill>
            <a:srgbClr val="0A081B"/>
          </a:solidFill>
          <a:ln/>
        </p:spPr>
      </p:sp>
      <p:sp>
        <p:nvSpPr>
          <p:cNvPr id="16" name="Text 14"/>
          <p:cNvSpPr/>
          <p:nvPr/>
        </p:nvSpPr>
        <p:spPr>
          <a:xfrm>
            <a:off x="11512748" y="3578900"/>
            <a:ext cx="330398" cy="413028"/>
          </a:xfrm>
          <a:prstGeom prst="rect">
            <a:avLst/>
          </a:prstGeom>
          <a:noFill/>
          <a:ln/>
        </p:spPr>
        <p:txBody>
          <a:bodyPr wrap="none" lIns="0" tIns="0" rIns="0" bIns="0" rtlCol="0" anchor="t"/>
          <a:lstStyle/>
          <a:p>
            <a:pPr marL="0" indent="0" algn="l">
              <a:lnSpc>
                <a:spcPts val="2600"/>
              </a:lnSpc>
              <a:buNone/>
            </a:pPr>
            <a:r>
              <a:rPr lang="en-US" sz="2600" b="1" dirty="0">
                <a:solidFill>
                  <a:srgbClr val="E0E4E6"/>
                </a:solidFill>
                <a:latin typeface="Spline Sans Bold" pitchFamily="34" charset="0"/>
                <a:ea typeface="Spline Sans Bold" pitchFamily="34" charset="-122"/>
                <a:cs typeface="Spline Sans Bold" pitchFamily="34" charset="-120"/>
              </a:rPr>
              <a:t>3</a:t>
            </a:r>
            <a:endParaRPr lang="en-US" sz="2600" dirty="0"/>
          </a:p>
        </p:txBody>
      </p:sp>
      <p:sp>
        <p:nvSpPr>
          <p:cNvPr id="17" name="Text 15"/>
          <p:cNvSpPr/>
          <p:nvPr/>
        </p:nvSpPr>
        <p:spPr>
          <a:xfrm>
            <a:off x="9857423" y="4347567"/>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Kleene Star (*)</a:t>
            </a:r>
            <a:endParaRPr lang="en-US" sz="1900" dirty="0"/>
          </a:p>
        </p:txBody>
      </p:sp>
      <p:sp>
        <p:nvSpPr>
          <p:cNvPr id="18" name="Text 16"/>
          <p:cNvSpPr/>
          <p:nvPr/>
        </p:nvSpPr>
        <p:spPr>
          <a:xfrm>
            <a:off x="9857423" y="4785717"/>
            <a:ext cx="3641050" cy="140970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Matches zero or more repetitions. </a:t>
            </a:r>
            <a:r>
              <a:rPr lang="en-US" sz="1700" dirty="0">
                <a:solidFill>
                  <a:srgbClr val="E0E4E6"/>
                </a:solidFill>
                <a:highlight>
                  <a:srgbClr val="171528"/>
                </a:highlight>
                <a:latin typeface="Consolas" pitchFamily="34" charset="0"/>
                <a:ea typeface="Consolas" pitchFamily="34" charset="-122"/>
                <a:cs typeface="Consolas" pitchFamily="34" charset="-120"/>
              </a:rPr>
              <a:t>a*</a:t>
            </a:r>
            <a:r>
              <a:rPr lang="en-US" sz="1700" dirty="0">
                <a:solidFill>
                  <a:srgbClr val="E0E4E6"/>
                </a:solidFill>
                <a:latin typeface="Barlow" pitchFamily="34" charset="0"/>
                <a:ea typeface="Barlow" pitchFamily="34" charset="-122"/>
                <a:cs typeface="Barlow" pitchFamily="34" charset="-120"/>
              </a:rPr>
              <a:t> matches "", "a", "aa", "aaa", etc. The expression </a:t>
            </a:r>
            <a:r>
              <a:rPr lang="en-US" sz="1700" dirty="0">
                <a:solidFill>
                  <a:srgbClr val="E0E4E6"/>
                </a:solidFill>
                <a:highlight>
                  <a:srgbClr val="171528"/>
                </a:highlight>
                <a:latin typeface="Consolas" pitchFamily="34" charset="0"/>
                <a:ea typeface="Consolas" pitchFamily="34" charset="-122"/>
                <a:cs typeface="Consolas" pitchFamily="34" charset="-120"/>
              </a:rPr>
              <a:t>(0|1)*</a:t>
            </a:r>
            <a:r>
              <a:rPr lang="en-US" sz="1700" dirty="0">
                <a:solidFill>
                  <a:srgbClr val="E0E4E6"/>
                </a:solidFill>
                <a:latin typeface="Barlow" pitchFamily="34" charset="0"/>
                <a:ea typeface="Barlow" pitchFamily="34" charset="-122"/>
                <a:cs typeface="Barlow" pitchFamily="34" charset="-120"/>
              </a:rPr>
              <a:t> matches any binary string, including the empty string.</a:t>
            </a:r>
            <a:endParaRPr lang="en-US" sz="1700" dirty="0"/>
          </a:p>
        </p:txBody>
      </p:sp>
      <p:sp>
        <p:nvSpPr>
          <p:cNvPr id="21" name="Rectangle 20">
            <a:extLst>
              <a:ext uri="{FF2B5EF4-FFF2-40B4-BE49-F238E27FC236}">
                <a16:creationId xmlns:a16="http://schemas.microsoft.com/office/drawing/2014/main" id="{78B1A26A-864B-8BEE-CA46-A9AA5B547DB2}"/>
              </a:ext>
            </a:extLst>
          </p:cNvPr>
          <p:cNvSpPr/>
          <p:nvPr/>
        </p:nvSpPr>
        <p:spPr>
          <a:xfrm>
            <a:off x="12787312" y="7726023"/>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6173" y="686752"/>
            <a:ext cx="8634055" cy="566738"/>
          </a:xfrm>
          <a:prstGeom prst="rect">
            <a:avLst/>
          </a:prstGeom>
          <a:noFill/>
          <a:ln/>
        </p:spPr>
        <p:txBody>
          <a:bodyPr wrap="none" lIns="0" tIns="0" rIns="0" bIns="0" rtlCol="0" anchor="t"/>
          <a:lstStyle/>
          <a:p>
            <a:pPr marL="0" indent="0" algn="l">
              <a:lnSpc>
                <a:spcPts val="4450"/>
              </a:lnSpc>
              <a:buNone/>
            </a:pPr>
            <a:r>
              <a:rPr lang="en-US" sz="3550" b="1" dirty="0">
                <a:solidFill>
                  <a:srgbClr val="F0FCFF"/>
                </a:solidFill>
                <a:latin typeface="Spline Sans Bold" pitchFamily="34" charset="0"/>
                <a:ea typeface="Spline Sans Bold" pitchFamily="34" charset="-122"/>
                <a:cs typeface="Spline Sans Bold" pitchFamily="34" charset="-120"/>
              </a:rPr>
              <a:t>Formal Definition of Regular Expressions</a:t>
            </a:r>
            <a:endParaRPr lang="en-US" sz="3550" dirty="0"/>
          </a:p>
        </p:txBody>
      </p:sp>
      <p:sp>
        <p:nvSpPr>
          <p:cNvPr id="3" name="Text 1"/>
          <p:cNvSpPr/>
          <p:nvPr/>
        </p:nvSpPr>
        <p:spPr>
          <a:xfrm>
            <a:off x="816173" y="1631394"/>
            <a:ext cx="12998053" cy="628888"/>
          </a:xfrm>
          <a:prstGeom prst="rect">
            <a:avLst/>
          </a:prstGeom>
          <a:noFill/>
          <a:ln/>
        </p:spPr>
        <p:txBody>
          <a:bodyPr wrap="squar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A regular expression over an alphabet Σ is defined recursively using the following rules. This formal construction ensures that every regular expression represents a well-defined set of strings.</a:t>
            </a:r>
            <a:endParaRPr lang="en-US" sz="1600" dirty="0"/>
          </a:p>
        </p:txBody>
      </p:sp>
      <p:sp>
        <p:nvSpPr>
          <p:cNvPr id="4" name="Text 2"/>
          <p:cNvSpPr/>
          <p:nvPr/>
        </p:nvSpPr>
        <p:spPr>
          <a:xfrm>
            <a:off x="816173" y="2472809"/>
            <a:ext cx="203954" cy="255032"/>
          </a:xfrm>
          <a:prstGeom prst="rect">
            <a:avLst/>
          </a:prstGeom>
          <a:noFill/>
          <a:ln/>
        </p:spPr>
        <p:txBody>
          <a:bodyPr wrap="none" lIns="0" tIns="0" rIns="0" bIns="0" rtlCol="0" anchor="t"/>
          <a:lstStyle/>
          <a:p>
            <a:pPr marL="0" indent="0" algn="l">
              <a:lnSpc>
                <a:spcPts val="2450"/>
              </a:lnSpc>
              <a:buNone/>
            </a:pPr>
            <a:r>
              <a:rPr lang="en-US" sz="1600" dirty="0">
                <a:solidFill>
                  <a:srgbClr val="E0E4E6"/>
                </a:solidFill>
                <a:latin typeface="Spline Sans Light" pitchFamily="34" charset="0"/>
                <a:ea typeface="Spline Sans Light" pitchFamily="34" charset="-122"/>
                <a:cs typeface="Spline Sans Light" pitchFamily="34" charset="-120"/>
              </a:rPr>
              <a:t>01</a:t>
            </a:r>
            <a:endParaRPr lang="en-US" sz="1600" dirty="0"/>
          </a:p>
        </p:txBody>
      </p:sp>
      <p:sp>
        <p:nvSpPr>
          <p:cNvPr id="5" name="Shape 3"/>
          <p:cNvSpPr/>
          <p:nvPr/>
        </p:nvSpPr>
        <p:spPr>
          <a:xfrm>
            <a:off x="816173" y="2796659"/>
            <a:ext cx="6404491" cy="22860"/>
          </a:xfrm>
          <a:prstGeom prst="rect">
            <a:avLst/>
          </a:prstGeom>
          <a:solidFill>
            <a:srgbClr val="16FFBB"/>
          </a:solidFill>
          <a:ln/>
        </p:spPr>
      </p:sp>
      <p:sp>
        <p:nvSpPr>
          <p:cNvPr id="6" name="Text 4"/>
          <p:cNvSpPr/>
          <p:nvPr/>
        </p:nvSpPr>
        <p:spPr>
          <a:xfrm>
            <a:off x="816173" y="2944297"/>
            <a:ext cx="2267188" cy="283369"/>
          </a:xfrm>
          <a:prstGeom prst="rect">
            <a:avLst/>
          </a:prstGeom>
          <a:noFill/>
          <a:ln/>
        </p:spPr>
        <p:txBody>
          <a:bodyPr wrap="none" lIns="0" tIns="0" rIns="0" bIns="0" rtlCol="0" anchor="t"/>
          <a:lstStyle/>
          <a:p>
            <a:pPr marL="0" indent="0" algn="l">
              <a:lnSpc>
                <a:spcPts val="2200"/>
              </a:lnSpc>
              <a:buNone/>
            </a:pPr>
            <a:r>
              <a:rPr lang="en-US" sz="1750" b="1" dirty="0">
                <a:solidFill>
                  <a:srgbClr val="E0E4E6"/>
                </a:solidFill>
                <a:latin typeface="Spline Sans Bold" pitchFamily="34" charset="0"/>
                <a:ea typeface="Spline Sans Bold" pitchFamily="34" charset="-122"/>
                <a:cs typeface="Spline Sans Bold" pitchFamily="34" charset="-120"/>
              </a:rPr>
              <a:t>Base Cases</a:t>
            </a:r>
            <a:endParaRPr lang="en-US" sz="1750" dirty="0"/>
          </a:p>
        </p:txBody>
      </p:sp>
      <p:sp>
        <p:nvSpPr>
          <p:cNvPr id="7" name="Text 5"/>
          <p:cNvSpPr/>
          <p:nvPr/>
        </p:nvSpPr>
        <p:spPr>
          <a:xfrm>
            <a:off x="816173" y="3341013"/>
            <a:ext cx="6404491" cy="1257776"/>
          </a:xfrm>
          <a:prstGeom prst="rect">
            <a:avLst/>
          </a:prstGeom>
          <a:noFill/>
          <a:ln/>
        </p:spPr>
        <p:txBody>
          <a:bodyPr wrap="squar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The empty set ∅ is a regular expression representing no strings. The empty string ε is a regular expression representing only the empty string. Every symbol a ∈ Σ is a regular expression representing the string containing just that symbol.</a:t>
            </a:r>
            <a:endParaRPr lang="en-US" sz="1600" dirty="0"/>
          </a:p>
        </p:txBody>
      </p:sp>
      <p:sp>
        <p:nvSpPr>
          <p:cNvPr id="8" name="Text 6"/>
          <p:cNvSpPr/>
          <p:nvPr/>
        </p:nvSpPr>
        <p:spPr>
          <a:xfrm>
            <a:off x="7409617" y="2472809"/>
            <a:ext cx="203954" cy="255032"/>
          </a:xfrm>
          <a:prstGeom prst="rect">
            <a:avLst/>
          </a:prstGeom>
          <a:noFill/>
          <a:ln/>
        </p:spPr>
        <p:txBody>
          <a:bodyPr wrap="none" lIns="0" tIns="0" rIns="0" bIns="0" rtlCol="0" anchor="t"/>
          <a:lstStyle/>
          <a:p>
            <a:pPr marL="0" indent="0" algn="l">
              <a:lnSpc>
                <a:spcPts val="2450"/>
              </a:lnSpc>
              <a:buNone/>
            </a:pPr>
            <a:r>
              <a:rPr lang="en-US" sz="1600" dirty="0">
                <a:solidFill>
                  <a:srgbClr val="E0E4E6"/>
                </a:solidFill>
                <a:latin typeface="Spline Sans Light" pitchFamily="34" charset="0"/>
                <a:ea typeface="Spline Sans Light" pitchFamily="34" charset="-122"/>
                <a:cs typeface="Spline Sans Light" pitchFamily="34" charset="-120"/>
              </a:rPr>
              <a:t>02</a:t>
            </a:r>
            <a:endParaRPr lang="en-US" sz="1600" dirty="0"/>
          </a:p>
        </p:txBody>
      </p:sp>
      <p:sp>
        <p:nvSpPr>
          <p:cNvPr id="9" name="Shape 7"/>
          <p:cNvSpPr/>
          <p:nvPr/>
        </p:nvSpPr>
        <p:spPr>
          <a:xfrm>
            <a:off x="7409617" y="2796659"/>
            <a:ext cx="6404610" cy="22860"/>
          </a:xfrm>
          <a:prstGeom prst="rect">
            <a:avLst/>
          </a:prstGeom>
          <a:solidFill>
            <a:srgbClr val="29DDDA"/>
          </a:solidFill>
          <a:ln/>
        </p:spPr>
      </p:sp>
      <p:sp>
        <p:nvSpPr>
          <p:cNvPr id="10" name="Text 8"/>
          <p:cNvSpPr/>
          <p:nvPr/>
        </p:nvSpPr>
        <p:spPr>
          <a:xfrm>
            <a:off x="7409617" y="2944297"/>
            <a:ext cx="2267188" cy="283369"/>
          </a:xfrm>
          <a:prstGeom prst="rect">
            <a:avLst/>
          </a:prstGeom>
          <a:noFill/>
          <a:ln/>
        </p:spPr>
        <p:txBody>
          <a:bodyPr wrap="none" lIns="0" tIns="0" rIns="0" bIns="0" rtlCol="0" anchor="t"/>
          <a:lstStyle/>
          <a:p>
            <a:pPr marL="0" indent="0" algn="l">
              <a:lnSpc>
                <a:spcPts val="2200"/>
              </a:lnSpc>
              <a:buNone/>
            </a:pPr>
            <a:r>
              <a:rPr lang="en-US" sz="1750" b="1" dirty="0">
                <a:solidFill>
                  <a:srgbClr val="E0E4E6"/>
                </a:solidFill>
                <a:latin typeface="Spline Sans Bold" pitchFamily="34" charset="0"/>
                <a:ea typeface="Spline Sans Bold" pitchFamily="34" charset="-122"/>
                <a:cs typeface="Spline Sans Bold" pitchFamily="34" charset="-120"/>
              </a:rPr>
              <a:t>Union Closure</a:t>
            </a:r>
            <a:endParaRPr lang="en-US" sz="1750" dirty="0"/>
          </a:p>
        </p:txBody>
      </p:sp>
      <p:sp>
        <p:nvSpPr>
          <p:cNvPr id="11" name="Text 9"/>
          <p:cNvSpPr/>
          <p:nvPr/>
        </p:nvSpPr>
        <p:spPr>
          <a:xfrm>
            <a:off x="7409617" y="3341013"/>
            <a:ext cx="6404610" cy="628888"/>
          </a:xfrm>
          <a:prstGeom prst="rect">
            <a:avLst/>
          </a:prstGeom>
          <a:noFill/>
          <a:ln/>
        </p:spPr>
        <p:txBody>
          <a:bodyPr wrap="squar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If R₁ and R₂ are regular expressions, then </a:t>
            </a:r>
            <a:r>
              <a:rPr lang="en-US" sz="1600" dirty="0">
                <a:solidFill>
                  <a:srgbClr val="E0E4E6"/>
                </a:solidFill>
                <a:highlight>
                  <a:srgbClr val="171528"/>
                </a:highlight>
                <a:latin typeface="Consolas" pitchFamily="34" charset="0"/>
                <a:ea typeface="Consolas" pitchFamily="34" charset="-122"/>
                <a:cs typeface="Consolas" pitchFamily="34" charset="-120"/>
              </a:rPr>
              <a:t>R₁ + R₂</a:t>
            </a:r>
            <a:r>
              <a:rPr lang="en-US" sz="1600" dirty="0">
                <a:solidFill>
                  <a:srgbClr val="E0E4E6"/>
                </a:solidFill>
                <a:latin typeface="Barlow" pitchFamily="34" charset="0"/>
                <a:ea typeface="Barlow" pitchFamily="34" charset="-122"/>
                <a:cs typeface="Barlow" pitchFamily="34" charset="-120"/>
              </a:rPr>
              <a:t> is a regular expression representing the union of their languages.</a:t>
            </a:r>
            <a:endParaRPr lang="en-US" sz="1600" dirty="0"/>
          </a:p>
        </p:txBody>
      </p:sp>
      <p:sp>
        <p:nvSpPr>
          <p:cNvPr id="12" name="Text 10"/>
          <p:cNvSpPr/>
          <p:nvPr/>
        </p:nvSpPr>
        <p:spPr>
          <a:xfrm>
            <a:off x="816173" y="4940737"/>
            <a:ext cx="203954" cy="255032"/>
          </a:xfrm>
          <a:prstGeom prst="rect">
            <a:avLst/>
          </a:prstGeom>
          <a:noFill/>
          <a:ln/>
        </p:spPr>
        <p:txBody>
          <a:bodyPr wrap="none" lIns="0" tIns="0" rIns="0" bIns="0" rtlCol="0" anchor="t"/>
          <a:lstStyle/>
          <a:p>
            <a:pPr marL="0" indent="0" algn="l">
              <a:lnSpc>
                <a:spcPts val="2450"/>
              </a:lnSpc>
              <a:buNone/>
            </a:pPr>
            <a:r>
              <a:rPr lang="en-US" sz="1600" dirty="0">
                <a:solidFill>
                  <a:srgbClr val="E0E4E6"/>
                </a:solidFill>
                <a:latin typeface="Spline Sans Light" pitchFamily="34" charset="0"/>
                <a:ea typeface="Spline Sans Light" pitchFamily="34" charset="-122"/>
                <a:cs typeface="Spline Sans Light" pitchFamily="34" charset="-120"/>
              </a:rPr>
              <a:t>03</a:t>
            </a:r>
            <a:endParaRPr lang="en-US" sz="1600" dirty="0"/>
          </a:p>
        </p:txBody>
      </p:sp>
      <p:sp>
        <p:nvSpPr>
          <p:cNvPr id="13" name="Shape 11"/>
          <p:cNvSpPr/>
          <p:nvPr/>
        </p:nvSpPr>
        <p:spPr>
          <a:xfrm>
            <a:off x="816173" y="5264587"/>
            <a:ext cx="6404491" cy="22860"/>
          </a:xfrm>
          <a:prstGeom prst="rect">
            <a:avLst/>
          </a:prstGeom>
          <a:solidFill>
            <a:srgbClr val="37A7E7"/>
          </a:solidFill>
          <a:ln/>
        </p:spPr>
      </p:sp>
      <p:sp>
        <p:nvSpPr>
          <p:cNvPr id="14" name="Text 12"/>
          <p:cNvSpPr/>
          <p:nvPr/>
        </p:nvSpPr>
        <p:spPr>
          <a:xfrm>
            <a:off x="816173" y="5412224"/>
            <a:ext cx="2449592" cy="283369"/>
          </a:xfrm>
          <a:prstGeom prst="rect">
            <a:avLst/>
          </a:prstGeom>
          <a:noFill/>
          <a:ln/>
        </p:spPr>
        <p:txBody>
          <a:bodyPr wrap="none" lIns="0" tIns="0" rIns="0" bIns="0" rtlCol="0" anchor="t"/>
          <a:lstStyle/>
          <a:p>
            <a:pPr marL="0" indent="0" algn="l">
              <a:lnSpc>
                <a:spcPts val="2200"/>
              </a:lnSpc>
              <a:buNone/>
            </a:pPr>
            <a:r>
              <a:rPr lang="en-US" sz="1750" b="1" dirty="0">
                <a:solidFill>
                  <a:srgbClr val="E0E4E6"/>
                </a:solidFill>
                <a:latin typeface="Spline Sans Bold" pitchFamily="34" charset="0"/>
                <a:ea typeface="Spline Sans Bold" pitchFamily="34" charset="-122"/>
                <a:cs typeface="Spline Sans Bold" pitchFamily="34" charset="-120"/>
              </a:rPr>
              <a:t>Concatenation Closure</a:t>
            </a:r>
            <a:endParaRPr lang="en-US" sz="1750" dirty="0"/>
          </a:p>
        </p:txBody>
      </p:sp>
      <p:sp>
        <p:nvSpPr>
          <p:cNvPr id="15" name="Text 13"/>
          <p:cNvSpPr/>
          <p:nvPr/>
        </p:nvSpPr>
        <p:spPr>
          <a:xfrm>
            <a:off x="816173" y="5808940"/>
            <a:ext cx="6404491" cy="628888"/>
          </a:xfrm>
          <a:prstGeom prst="rect">
            <a:avLst/>
          </a:prstGeom>
          <a:noFill/>
          <a:ln/>
        </p:spPr>
        <p:txBody>
          <a:bodyPr wrap="squar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If R₁ and R₂ are regular expressions, then </a:t>
            </a:r>
            <a:r>
              <a:rPr lang="en-US" sz="1600" dirty="0">
                <a:solidFill>
                  <a:srgbClr val="E0E4E6"/>
                </a:solidFill>
                <a:highlight>
                  <a:srgbClr val="171528"/>
                </a:highlight>
                <a:latin typeface="Consolas" pitchFamily="34" charset="0"/>
                <a:ea typeface="Consolas" pitchFamily="34" charset="-122"/>
                <a:cs typeface="Consolas" pitchFamily="34" charset="-120"/>
              </a:rPr>
              <a:t>R₁R₂</a:t>
            </a:r>
            <a:r>
              <a:rPr lang="en-US" sz="1600" dirty="0">
                <a:solidFill>
                  <a:srgbClr val="E0E4E6"/>
                </a:solidFill>
                <a:latin typeface="Barlow" pitchFamily="34" charset="0"/>
                <a:ea typeface="Barlow" pitchFamily="34" charset="-122"/>
                <a:cs typeface="Barlow" pitchFamily="34" charset="-120"/>
              </a:rPr>
              <a:t> is a regular expression representing the concatenation of their languages.</a:t>
            </a:r>
            <a:endParaRPr lang="en-US" sz="1600" dirty="0"/>
          </a:p>
        </p:txBody>
      </p:sp>
      <p:sp>
        <p:nvSpPr>
          <p:cNvPr id="16" name="Text 14"/>
          <p:cNvSpPr/>
          <p:nvPr/>
        </p:nvSpPr>
        <p:spPr>
          <a:xfrm>
            <a:off x="7409617" y="4940737"/>
            <a:ext cx="203954" cy="255032"/>
          </a:xfrm>
          <a:prstGeom prst="rect">
            <a:avLst/>
          </a:prstGeom>
          <a:noFill/>
          <a:ln/>
        </p:spPr>
        <p:txBody>
          <a:bodyPr wrap="none" lIns="0" tIns="0" rIns="0" bIns="0" rtlCol="0" anchor="t"/>
          <a:lstStyle/>
          <a:p>
            <a:pPr marL="0" indent="0" algn="l">
              <a:lnSpc>
                <a:spcPts val="2450"/>
              </a:lnSpc>
              <a:buNone/>
            </a:pPr>
            <a:r>
              <a:rPr lang="en-US" sz="1600" dirty="0">
                <a:solidFill>
                  <a:srgbClr val="E0E4E6"/>
                </a:solidFill>
                <a:latin typeface="Spline Sans Light" pitchFamily="34" charset="0"/>
                <a:ea typeface="Spline Sans Light" pitchFamily="34" charset="-122"/>
                <a:cs typeface="Spline Sans Light" pitchFamily="34" charset="-120"/>
              </a:rPr>
              <a:t>04</a:t>
            </a:r>
            <a:endParaRPr lang="en-US" sz="1600" dirty="0"/>
          </a:p>
        </p:txBody>
      </p:sp>
      <p:sp>
        <p:nvSpPr>
          <p:cNvPr id="17" name="Shape 15"/>
          <p:cNvSpPr/>
          <p:nvPr/>
        </p:nvSpPr>
        <p:spPr>
          <a:xfrm>
            <a:off x="7409617" y="5264587"/>
            <a:ext cx="6404610" cy="22860"/>
          </a:xfrm>
          <a:prstGeom prst="rect">
            <a:avLst/>
          </a:prstGeom>
          <a:solidFill>
            <a:srgbClr val="091231"/>
          </a:solidFill>
          <a:ln/>
        </p:spPr>
      </p:sp>
      <p:sp>
        <p:nvSpPr>
          <p:cNvPr id="18" name="Text 16"/>
          <p:cNvSpPr/>
          <p:nvPr/>
        </p:nvSpPr>
        <p:spPr>
          <a:xfrm>
            <a:off x="7409617" y="5412224"/>
            <a:ext cx="2267188" cy="283369"/>
          </a:xfrm>
          <a:prstGeom prst="rect">
            <a:avLst/>
          </a:prstGeom>
          <a:noFill/>
          <a:ln/>
        </p:spPr>
        <p:txBody>
          <a:bodyPr wrap="none" lIns="0" tIns="0" rIns="0" bIns="0" rtlCol="0" anchor="t"/>
          <a:lstStyle/>
          <a:p>
            <a:pPr marL="0" indent="0" algn="l">
              <a:lnSpc>
                <a:spcPts val="2200"/>
              </a:lnSpc>
              <a:buNone/>
            </a:pPr>
            <a:r>
              <a:rPr lang="en-US" sz="1750" b="1" dirty="0">
                <a:solidFill>
                  <a:srgbClr val="E0E4E6"/>
                </a:solidFill>
                <a:latin typeface="Spline Sans Bold" pitchFamily="34" charset="0"/>
                <a:ea typeface="Spline Sans Bold" pitchFamily="34" charset="-122"/>
                <a:cs typeface="Spline Sans Bold" pitchFamily="34" charset="-120"/>
              </a:rPr>
              <a:t>Kleene Star Closure</a:t>
            </a:r>
            <a:endParaRPr lang="en-US" sz="1750" dirty="0"/>
          </a:p>
        </p:txBody>
      </p:sp>
      <p:sp>
        <p:nvSpPr>
          <p:cNvPr id="19" name="Text 17"/>
          <p:cNvSpPr/>
          <p:nvPr/>
        </p:nvSpPr>
        <p:spPr>
          <a:xfrm>
            <a:off x="7409617" y="5808940"/>
            <a:ext cx="6404610" cy="628888"/>
          </a:xfrm>
          <a:prstGeom prst="rect">
            <a:avLst/>
          </a:prstGeom>
          <a:noFill/>
          <a:ln/>
        </p:spPr>
        <p:txBody>
          <a:bodyPr wrap="squar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If R is a regular expression, then </a:t>
            </a:r>
            <a:r>
              <a:rPr lang="en-US" sz="1600" dirty="0">
                <a:solidFill>
                  <a:srgbClr val="E0E4E6"/>
                </a:solidFill>
                <a:highlight>
                  <a:srgbClr val="171528"/>
                </a:highlight>
                <a:latin typeface="Consolas" pitchFamily="34" charset="0"/>
                <a:ea typeface="Consolas" pitchFamily="34" charset="-122"/>
                <a:cs typeface="Consolas" pitchFamily="34" charset="-120"/>
              </a:rPr>
              <a:t>R*</a:t>
            </a:r>
            <a:r>
              <a:rPr lang="en-US" sz="1600" dirty="0">
                <a:solidFill>
                  <a:srgbClr val="E0E4E6"/>
                </a:solidFill>
                <a:latin typeface="Barlow" pitchFamily="34" charset="0"/>
                <a:ea typeface="Barlow" pitchFamily="34" charset="-122"/>
                <a:cs typeface="Barlow" pitchFamily="34" charset="-120"/>
              </a:rPr>
              <a:t> is a regular expression representing the Kleene closure of its language.</a:t>
            </a:r>
            <a:endParaRPr lang="en-US" sz="1600" dirty="0"/>
          </a:p>
        </p:txBody>
      </p:sp>
      <p:sp>
        <p:nvSpPr>
          <p:cNvPr id="20" name="Text 18"/>
          <p:cNvSpPr/>
          <p:nvPr/>
        </p:nvSpPr>
        <p:spPr>
          <a:xfrm>
            <a:off x="1122164" y="7015877"/>
            <a:ext cx="12692062" cy="314444"/>
          </a:xfrm>
          <a:prstGeom prst="rect">
            <a:avLst/>
          </a:prstGeom>
          <a:noFill/>
          <a:ln/>
        </p:spPr>
        <p:txBody>
          <a:bodyPr wrap="none" lIns="0" tIns="0" rIns="0" bIns="0" rtlCol="0" anchor="t"/>
          <a:lstStyle/>
          <a:p>
            <a:pPr marL="0" indent="0" algn="l">
              <a:lnSpc>
                <a:spcPts val="2450"/>
              </a:lnSpc>
              <a:buNone/>
            </a:pPr>
            <a:r>
              <a:rPr lang="en-US" sz="1600" dirty="0">
                <a:solidFill>
                  <a:srgbClr val="E0E4E6"/>
                </a:solidFill>
                <a:latin typeface="Barlow" pitchFamily="34" charset="0"/>
                <a:ea typeface="Barlow" pitchFamily="34" charset="-122"/>
                <a:cs typeface="Barlow" pitchFamily="34" charset="-120"/>
              </a:rPr>
              <a:t>These recursive rules form the foundation for generating all possible regular expressions over a given alphabet.</a:t>
            </a:r>
            <a:endParaRPr lang="en-US" sz="1600" dirty="0"/>
          </a:p>
        </p:txBody>
      </p:sp>
      <p:sp>
        <p:nvSpPr>
          <p:cNvPr id="21" name="Shape 19"/>
          <p:cNvSpPr/>
          <p:nvPr/>
        </p:nvSpPr>
        <p:spPr>
          <a:xfrm>
            <a:off x="816173" y="6803350"/>
            <a:ext cx="22860" cy="739497"/>
          </a:xfrm>
          <a:prstGeom prst="rect">
            <a:avLst/>
          </a:prstGeom>
          <a:solidFill>
            <a:srgbClr val="16FFBB"/>
          </a:solidFill>
          <a:ln/>
        </p:spPr>
      </p:sp>
      <p:sp>
        <p:nvSpPr>
          <p:cNvPr id="22" name="Rectangle 21">
            <a:extLst>
              <a:ext uri="{FF2B5EF4-FFF2-40B4-BE49-F238E27FC236}">
                <a16:creationId xmlns:a16="http://schemas.microsoft.com/office/drawing/2014/main" id="{5723799A-4A5F-01E8-6428-BCBAAFA6C65D}"/>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81063" y="1276707"/>
            <a:ext cx="7589996" cy="611981"/>
          </a:xfrm>
          <a:prstGeom prst="rect">
            <a:avLst/>
          </a:prstGeom>
          <a:noFill/>
          <a:ln/>
        </p:spPr>
        <p:txBody>
          <a:bodyPr wrap="none" lIns="0" tIns="0" rIns="0" bIns="0" rtlCol="0" anchor="t"/>
          <a:lstStyle/>
          <a:p>
            <a:pPr marL="0" indent="0" algn="l">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Examples of Regular Expressions</a:t>
            </a:r>
            <a:endParaRPr lang="en-US" sz="3850" dirty="0"/>
          </a:p>
        </p:txBody>
      </p:sp>
      <p:sp>
        <p:nvSpPr>
          <p:cNvPr id="3" name="Text 1"/>
          <p:cNvSpPr/>
          <p:nvPr/>
        </p:nvSpPr>
        <p:spPr>
          <a:xfrm>
            <a:off x="881063" y="2329220"/>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Let's examine concrete examples that demonstrate how regular expressions describe specific language patterns. These examples illustrate the power and flexibility of RE notation.</a:t>
            </a:r>
            <a:endParaRPr lang="en-US" sz="1700" dirty="0"/>
          </a:p>
        </p:txBody>
      </p:sp>
      <p:sp>
        <p:nvSpPr>
          <p:cNvPr id="4" name="Shape 2"/>
          <p:cNvSpPr/>
          <p:nvPr/>
        </p:nvSpPr>
        <p:spPr>
          <a:xfrm>
            <a:off x="881063" y="3281839"/>
            <a:ext cx="4142542" cy="3670935"/>
          </a:xfrm>
          <a:prstGeom prst="roundRect">
            <a:avLst>
              <a:gd name="adj" fmla="val 9002"/>
            </a:avLst>
          </a:prstGeom>
          <a:solidFill>
            <a:srgbClr val="0A081B">
              <a:alpha val="75000"/>
            </a:srgbClr>
          </a:solidFill>
          <a:ln w="30480">
            <a:solidFill>
              <a:srgbClr val="16FFBB"/>
            </a:solidFill>
            <a:prstDash val="solid"/>
          </a:ln>
        </p:spPr>
      </p:sp>
      <p:sp>
        <p:nvSpPr>
          <p:cNvPr id="5" name="Text 3"/>
          <p:cNvSpPr/>
          <p:nvPr/>
        </p:nvSpPr>
        <p:spPr>
          <a:xfrm>
            <a:off x="1131808" y="3532584"/>
            <a:ext cx="2667714"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Strings Ending with 'ab'</a:t>
            </a:r>
            <a:endParaRPr lang="en-US" sz="1900" dirty="0"/>
          </a:p>
        </p:txBody>
      </p:sp>
      <p:sp>
        <p:nvSpPr>
          <p:cNvPr id="6" name="Text 4"/>
          <p:cNvSpPr/>
          <p:nvPr/>
        </p:nvSpPr>
        <p:spPr>
          <a:xfrm>
            <a:off x="1131808" y="3970734"/>
            <a:ext cx="3641050" cy="352425"/>
          </a:xfrm>
          <a:prstGeom prst="rect">
            <a:avLst/>
          </a:prstGeom>
          <a:noFill/>
          <a:ln/>
        </p:spPr>
        <p:txBody>
          <a:bodyPr wrap="non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Expression:</a:t>
            </a:r>
            <a:r>
              <a:rPr lang="en-US" sz="1700" dirty="0">
                <a:solidFill>
                  <a:srgbClr val="E0E4E6"/>
                </a:solidFill>
                <a:latin typeface="Barlow" pitchFamily="34" charset="0"/>
                <a:ea typeface="Barlow" pitchFamily="34" charset="-122"/>
                <a:cs typeface="Barlow" pitchFamily="34" charset="-120"/>
              </a:rPr>
              <a:t> </a:t>
            </a:r>
            <a:r>
              <a:rPr lang="en-US" sz="1700" dirty="0">
                <a:solidFill>
                  <a:srgbClr val="E0E4E6"/>
                </a:solidFill>
                <a:highlight>
                  <a:srgbClr val="171528"/>
                </a:highlight>
                <a:latin typeface="Consolas" pitchFamily="34" charset="0"/>
                <a:ea typeface="Consolas" pitchFamily="34" charset="-122"/>
                <a:cs typeface="Consolas" pitchFamily="34" charset="-120"/>
              </a:rPr>
              <a:t>(a|b)*ab</a:t>
            </a:r>
            <a:endParaRPr lang="en-US" sz="1700" dirty="0"/>
          </a:p>
        </p:txBody>
      </p:sp>
      <p:sp>
        <p:nvSpPr>
          <p:cNvPr id="7" name="Text 5"/>
          <p:cNvSpPr/>
          <p:nvPr/>
        </p:nvSpPr>
        <p:spPr>
          <a:xfrm>
            <a:off x="1131808" y="4455319"/>
            <a:ext cx="3641050" cy="1409700"/>
          </a:xfrm>
          <a:prstGeom prst="rect">
            <a:avLst/>
          </a:prstGeom>
          <a:noFill/>
          <a:ln/>
        </p:spPr>
        <p:txBody>
          <a:bodyPr wrap="squar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Explanation:</a:t>
            </a:r>
            <a:r>
              <a:rPr lang="en-US" sz="1700" dirty="0">
                <a:solidFill>
                  <a:srgbClr val="E0E4E6"/>
                </a:solidFill>
                <a:latin typeface="Barlow" pitchFamily="34" charset="0"/>
                <a:ea typeface="Barlow" pitchFamily="34" charset="-122"/>
                <a:cs typeface="Barlow" pitchFamily="34" charset="-120"/>
              </a:rPr>
              <a:t> Any combination of a's and b's, followed by the specific sequence 'ab'. This matches strings like "ab", "aab", "bab", "aaab", etc.</a:t>
            </a:r>
            <a:endParaRPr lang="en-US" sz="1700" dirty="0"/>
          </a:p>
        </p:txBody>
      </p:sp>
      <p:sp>
        <p:nvSpPr>
          <p:cNvPr id="8" name="Text 6"/>
          <p:cNvSpPr/>
          <p:nvPr/>
        </p:nvSpPr>
        <p:spPr>
          <a:xfrm>
            <a:off x="1131808" y="5997178"/>
            <a:ext cx="3641050" cy="704850"/>
          </a:xfrm>
          <a:prstGeom prst="rect">
            <a:avLst/>
          </a:prstGeom>
          <a:noFill/>
          <a:ln/>
        </p:spPr>
        <p:txBody>
          <a:bodyPr wrap="squar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Language:</a:t>
            </a:r>
            <a:r>
              <a:rPr lang="en-US" sz="1700" dirty="0">
                <a:solidFill>
                  <a:srgbClr val="E0E4E6"/>
                </a:solidFill>
                <a:latin typeface="Barlow" pitchFamily="34" charset="0"/>
                <a:ea typeface="Barlow" pitchFamily="34" charset="-122"/>
                <a:cs typeface="Barlow" pitchFamily="34" charset="-120"/>
              </a:rPr>
              <a:t> {ab, aab, bab, aaab, abab, ...}</a:t>
            </a:r>
            <a:endParaRPr lang="en-US" sz="1700" dirty="0"/>
          </a:p>
        </p:txBody>
      </p:sp>
      <p:sp>
        <p:nvSpPr>
          <p:cNvPr id="9" name="Shape 7"/>
          <p:cNvSpPr/>
          <p:nvPr/>
        </p:nvSpPr>
        <p:spPr>
          <a:xfrm>
            <a:off x="5243870" y="3281839"/>
            <a:ext cx="4142542" cy="3670935"/>
          </a:xfrm>
          <a:prstGeom prst="roundRect">
            <a:avLst>
              <a:gd name="adj" fmla="val 9002"/>
            </a:avLst>
          </a:prstGeom>
          <a:solidFill>
            <a:srgbClr val="0A081B">
              <a:alpha val="75000"/>
            </a:srgbClr>
          </a:solidFill>
          <a:ln w="30480">
            <a:solidFill>
              <a:srgbClr val="29DDDA"/>
            </a:solidFill>
            <a:prstDash val="solid"/>
          </a:ln>
        </p:spPr>
      </p:sp>
      <p:sp>
        <p:nvSpPr>
          <p:cNvPr id="10" name="Text 8"/>
          <p:cNvSpPr/>
          <p:nvPr/>
        </p:nvSpPr>
        <p:spPr>
          <a:xfrm>
            <a:off x="5494615" y="3532584"/>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Even Number of 0s</a:t>
            </a:r>
            <a:endParaRPr lang="en-US" sz="1900" dirty="0"/>
          </a:p>
        </p:txBody>
      </p:sp>
      <p:sp>
        <p:nvSpPr>
          <p:cNvPr id="11" name="Text 9"/>
          <p:cNvSpPr/>
          <p:nvPr/>
        </p:nvSpPr>
        <p:spPr>
          <a:xfrm>
            <a:off x="5494615" y="3970734"/>
            <a:ext cx="3641050" cy="352425"/>
          </a:xfrm>
          <a:prstGeom prst="rect">
            <a:avLst/>
          </a:prstGeom>
          <a:noFill/>
          <a:ln/>
        </p:spPr>
        <p:txBody>
          <a:bodyPr wrap="non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Expression:</a:t>
            </a:r>
            <a:r>
              <a:rPr lang="en-US" sz="1700" dirty="0">
                <a:solidFill>
                  <a:srgbClr val="E0E4E6"/>
                </a:solidFill>
                <a:latin typeface="Barlow" pitchFamily="34" charset="0"/>
                <a:ea typeface="Barlow" pitchFamily="34" charset="-122"/>
                <a:cs typeface="Barlow" pitchFamily="34" charset="-120"/>
              </a:rPr>
              <a:t> </a:t>
            </a:r>
            <a:r>
              <a:rPr lang="en-US" sz="1700" dirty="0">
                <a:solidFill>
                  <a:srgbClr val="E0E4E6"/>
                </a:solidFill>
                <a:highlight>
                  <a:srgbClr val="171528"/>
                </a:highlight>
                <a:latin typeface="Consolas" pitchFamily="34" charset="0"/>
                <a:ea typeface="Consolas" pitchFamily="34" charset="-122"/>
                <a:cs typeface="Consolas" pitchFamily="34" charset="-120"/>
              </a:rPr>
              <a:t>(1*01*01*)*</a:t>
            </a:r>
            <a:endParaRPr lang="en-US" sz="1700" dirty="0"/>
          </a:p>
        </p:txBody>
      </p:sp>
      <p:sp>
        <p:nvSpPr>
          <p:cNvPr id="12" name="Text 10"/>
          <p:cNvSpPr/>
          <p:nvPr/>
        </p:nvSpPr>
        <p:spPr>
          <a:xfrm>
            <a:off x="5494615" y="4455319"/>
            <a:ext cx="3641050" cy="1409700"/>
          </a:xfrm>
          <a:prstGeom prst="rect">
            <a:avLst/>
          </a:prstGeom>
          <a:noFill/>
          <a:ln/>
        </p:spPr>
        <p:txBody>
          <a:bodyPr wrap="squar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Explanation:</a:t>
            </a:r>
            <a:r>
              <a:rPr lang="en-US" sz="1700" dirty="0">
                <a:solidFill>
                  <a:srgbClr val="E0E4E6"/>
                </a:solidFill>
                <a:latin typeface="Barlow" pitchFamily="34" charset="0"/>
                <a:ea typeface="Barlow" pitchFamily="34" charset="-122"/>
                <a:cs typeface="Barlow" pitchFamily="34" charset="-120"/>
              </a:rPr>
              <a:t> Matches binary strings where 0s appear in pairs. The pattern 1*01*01* captures pairs of 0s with any number of 1s between or around them.</a:t>
            </a:r>
            <a:endParaRPr lang="en-US" sz="1700" dirty="0"/>
          </a:p>
        </p:txBody>
      </p:sp>
      <p:sp>
        <p:nvSpPr>
          <p:cNvPr id="13" name="Text 11"/>
          <p:cNvSpPr/>
          <p:nvPr/>
        </p:nvSpPr>
        <p:spPr>
          <a:xfrm>
            <a:off x="5494615" y="5997178"/>
            <a:ext cx="3641050" cy="704850"/>
          </a:xfrm>
          <a:prstGeom prst="rect">
            <a:avLst/>
          </a:prstGeom>
          <a:noFill/>
          <a:ln/>
        </p:spPr>
        <p:txBody>
          <a:bodyPr wrap="squar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Language:</a:t>
            </a:r>
            <a:r>
              <a:rPr lang="en-US" sz="1700" dirty="0">
                <a:solidFill>
                  <a:srgbClr val="E0E4E6"/>
                </a:solidFill>
                <a:latin typeface="Barlow" pitchFamily="34" charset="0"/>
                <a:ea typeface="Barlow" pitchFamily="34" charset="-122"/>
                <a:cs typeface="Barlow" pitchFamily="34" charset="-120"/>
              </a:rPr>
              <a:t> {ε, 1, 11, 00, 100, 001, 1001, ...}</a:t>
            </a:r>
            <a:endParaRPr lang="en-US" sz="1700" dirty="0"/>
          </a:p>
        </p:txBody>
      </p:sp>
      <p:sp>
        <p:nvSpPr>
          <p:cNvPr id="14" name="Shape 12"/>
          <p:cNvSpPr/>
          <p:nvPr/>
        </p:nvSpPr>
        <p:spPr>
          <a:xfrm>
            <a:off x="9606677" y="3281839"/>
            <a:ext cx="4142542" cy="3670935"/>
          </a:xfrm>
          <a:prstGeom prst="roundRect">
            <a:avLst>
              <a:gd name="adj" fmla="val 9002"/>
            </a:avLst>
          </a:prstGeom>
          <a:solidFill>
            <a:srgbClr val="0A081B">
              <a:alpha val="75000"/>
            </a:srgbClr>
          </a:solidFill>
          <a:ln w="30480">
            <a:solidFill>
              <a:srgbClr val="37A7E7"/>
            </a:solidFill>
            <a:prstDash val="solid"/>
          </a:ln>
        </p:spPr>
      </p:sp>
      <p:sp>
        <p:nvSpPr>
          <p:cNvPr id="15" name="Text 13"/>
          <p:cNvSpPr/>
          <p:nvPr/>
        </p:nvSpPr>
        <p:spPr>
          <a:xfrm>
            <a:off x="9857423" y="3532584"/>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At Least One 'a'</a:t>
            </a:r>
            <a:endParaRPr lang="en-US" sz="1900" dirty="0"/>
          </a:p>
        </p:txBody>
      </p:sp>
      <p:sp>
        <p:nvSpPr>
          <p:cNvPr id="16" name="Text 14"/>
          <p:cNvSpPr/>
          <p:nvPr/>
        </p:nvSpPr>
        <p:spPr>
          <a:xfrm>
            <a:off x="9857423" y="3970734"/>
            <a:ext cx="3641050" cy="352425"/>
          </a:xfrm>
          <a:prstGeom prst="rect">
            <a:avLst/>
          </a:prstGeom>
          <a:noFill/>
          <a:ln/>
        </p:spPr>
        <p:txBody>
          <a:bodyPr wrap="non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Expression:</a:t>
            </a:r>
            <a:r>
              <a:rPr lang="en-US" sz="1700" dirty="0">
                <a:solidFill>
                  <a:srgbClr val="E0E4E6"/>
                </a:solidFill>
                <a:latin typeface="Barlow" pitchFamily="34" charset="0"/>
                <a:ea typeface="Barlow" pitchFamily="34" charset="-122"/>
                <a:cs typeface="Barlow" pitchFamily="34" charset="-120"/>
              </a:rPr>
              <a:t> </a:t>
            </a:r>
            <a:r>
              <a:rPr lang="en-US" sz="1700" dirty="0">
                <a:solidFill>
                  <a:srgbClr val="E0E4E6"/>
                </a:solidFill>
                <a:highlight>
                  <a:srgbClr val="171528"/>
                </a:highlight>
                <a:latin typeface="Consolas" pitchFamily="34" charset="0"/>
                <a:ea typeface="Consolas" pitchFamily="34" charset="-122"/>
                <a:cs typeface="Consolas" pitchFamily="34" charset="-120"/>
              </a:rPr>
              <a:t>(a|b)*a(a|b)*</a:t>
            </a:r>
            <a:endParaRPr lang="en-US" sz="1700" dirty="0"/>
          </a:p>
        </p:txBody>
      </p:sp>
      <p:sp>
        <p:nvSpPr>
          <p:cNvPr id="17" name="Text 15"/>
          <p:cNvSpPr/>
          <p:nvPr/>
        </p:nvSpPr>
        <p:spPr>
          <a:xfrm>
            <a:off x="9857423" y="4455319"/>
            <a:ext cx="3641050" cy="1409700"/>
          </a:xfrm>
          <a:prstGeom prst="rect">
            <a:avLst/>
          </a:prstGeom>
          <a:noFill/>
          <a:ln/>
        </p:spPr>
        <p:txBody>
          <a:bodyPr wrap="squar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Explanation:</a:t>
            </a:r>
            <a:r>
              <a:rPr lang="en-US" sz="1700" dirty="0">
                <a:solidFill>
                  <a:srgbClr val="E0E4E6"/>
                </a:solidFill>
                <a:latin typeface="Barlow" pitchFamily="34" charset="0"/>
                <a:ea typeface="Barlow" pitchFamily="34" charset="-122"/>
                <a:cs typeface="Barlow" pitchFamily="34" charset="-120"/>
              </a:rPr>
              <a:t> Any string over {a,b} that contains at least one 'a' anywhere in the sequence. This matches "a", "ba", "ab", "aba", etc.</a:t>
            </a:r>
            <a:endParaRPr lang="en-US" sz="1700" dirty="0"/>
          </a:p>
        </p:txBody>
      </p:sp>
      <p:sp>
        <p:nvSpPr>
          <p:cNvPr id="18" name="Text 16"/>
          <p:cNvSpPr/>
          <p:nvPr/>
        </p:nvSpPr>
        <p:spPr>
          <a:xfrm>
            <a:off x="9857423" y="5997178"/>
            <a:ext cx="3641050" cy="352425"/>
          </a:xfrm>
          <a:prstGeom prst="rect">
            <a:avLst/>
          </a:prstGeom>
          <a:noFill/>
          <a:ln/>
        </p:spPr>
        <p:txBody>
          <a:bodyPr wrap="none" lIns="0" tIns="0" rIns="0" bIns="0" rtlCol="0" anchor="t"/>
          <a:lstStyle/>
          <a:p>
            <a:pPr marL="0" indent="0" algn="l">
              <a:lnSpc>
                <a:spcPts val="2750"/>
              </a:lnSpc>
              <a:buNone/>
            </a:pPr>
            <a:r>
              <a:rPr lang="en-US" sz="1700" b="1" dirty="0">
                <a:solidFill>
                  <a:srgbClr val="E0E4E6"/>
                </a:solidFill>
                <a:latin typeface="Barlow" pitchFamily="34" charset="0"/>
                <a:ea typeface="Barlow" pitchFamily="34" charset="-122"/>
                <a:cs typeface="Barlow" pitchFamily="34" charset="-120"/>
              </a:rPr>
              <a:t>Language:</a:t>
            </a:r>
            <a:r>
              <a:rPr lang="en-US" sz="1700" dirty="0">
                <a:solidFill>
                  <a:srgbClr val="E0E4E6"/>
                </a:solidFill>
                <a:latin typeface="Barlow" pitchFamily="34" charset="0"/>
                <a:ea typeface="Barlow" pitchFamily="34" charset="-122"/>
                <a:cs typeface="Barlow" pitchFamily="34" charset="-120"/>
              </a:rPr>
              <a:t> {a, ba, ab, aa, aba, bab, ...}</a:t>
            </a:r>
            <a:endParaRPr lang="en-US" sz="1700" dirty="0"/>
          </a:p>
        </p:txBody>
      </p:sp>
      <p:sp>
        <p:nvSpPr>
          <p:cNvPr id="19" name="Rectangle 18">
            <a:extLst>
              <a:ext uri="{FF2B5EF4-FFF2-40B4-BE49-F238E27FC236}">
                <a16:creationId xmlns:a16="http://schemas.microsoft.com/office/drawing/2014/main" id="{084D7881-90AC-23E1-273B-6F099150B697}"/>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0336" y="924044"/>
            <a:ext cx="8592145" cy="517922"/>
          </a:xfrm>
          <a:prstGeom prst="rect">
            <a:avLst/>
          </a:prstGeom>
          <a:noFill/>
          <a:ln/>
        </p:spPr>
        <p:txBody>
          <a:bodyPr wrap="none" lIns="0" tIns="0" rIns="0" bIns="0" rtlCol="0" anchor="t"/>
          <a:lstStyle/>
          <a:p>
            <a:pPr marL="0" indent="0" algn="l">
              <a:lnSpc>
                <a:spcPts val="4050"/>
              </a:lnSpc>
              <a:buNone/>
            </a:pPr>
            <a:r>
              <a:rPr lang="en-US" sz="3250" b="1" dirty="0">
                <a:solidFill>
                  <a:srgbClr val="F0FCFF"/>
                </a:solidFill>
                <a:latin typeface="Spline Sans Bold" pitchFamily="34" charset="0"/>
                <a:ea typeface="Spline Sans Bold" pitchFamily="34" charset="-122"/>
                <a:cs typeface="Spline Sans Bold" pitchFamily="34" charset="-120"/>
              </a:rPr>
              <a:t>Conversion Between RE and Finite Automata</a:t>
            </a:r>
            <a:endParaRPr lang="en-US" sz="3250" dirty="0"/>
          </a:p>
        </p:txBody>
      </p:sp>
      <p:sp>
        <p:nvSpPr>
          <p:cNvPr id="3" name="Text 1"/>
          <p:cNvSpPr/>
          <p:nvPr/>
        </p:nvSpPr>
        <p:spPr>
          <a:xfrm>
            <a:off x="780336" y="1836420"/>
            <a:ext cx="3014424" cy="310753"/>
          </a:xfrm>
          <a:prstGeom prst="rect">
            <a:avLst/>
          </a:prstGeom>
          <a:noFill/>
          <a:ln/>
        </p:spPr>
        <p:txBody>
          <a:bodyPr wrap="none" lIns="0" tIns="0" rIns="0" bIns="0" rtlCol="0" anchor="t"/>
          <a:lstStyle/>
          <a:p>
            <a:pPr marL="0" indent="0" algn="l">
              <a:lnSpc>
                <a:spcPts val="2400"/>
              </a:lnSpc>
              <a:buNone/>
            </a:pPr>
            <a:r>
              <a:rPr lang="en-US" sz="1950" b="1" dirty="0">
                <a:solidFill>
                  <a:srgbClr val="F0FCFF"/>
                </a:solidFill>
                <a:latin typeface="Spline Sans Bold" pitchFamily="34" charset="0"/>
                <a:ea typeface="Spline Sans Bold" pitchFamily="34" charset="-122"/>
                <a:cs typeface="Spline Sans Bold" pitchFamily="34" charset="-120"/>
              </a:rPr>
              <a:t>Regular Expressions → FA</a:t>
            </a:r>
            <a:endParaRPr lang="en-US" sz="1950" dirty="0"/>
          </a:p>
        </p:txBody>
      </p:sp>
      <p:sp>
        <p:nvSpPr>
          <p:cNvPr id="4" name="Text 2"/>
          <p:cNvSpPr/>
          <p:nvPr/>
        </p:nvSpPr>
        <p:spPr>
          <a:xfrm>
            <a:off x="780336" y="2304931"/>
            <a:ext cx="6307455" cy="826175"/>
          </a:xfrm>
          <a:prstGeom prst="rect">
            <a:avLst/>
          </a:prstGeom>
          <a:noFill/>
          <a:ln/>
        </p:spPr>
        <p:txBody>
          <a:bodyPr wrap="squar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Every regular expression can be converted into an equivalent finite automaton. This conversion uses Thompson's construction algorithm, which builds an NFA by recursively processing each component of the RE.</a:t>
            </a:r>
            <a:endParaRPr lang="en-US" sz="1450" dirty="0"/>
          </a:p>
        </p:txBody>
      </p:sp>
      <p:sp>
        <p:nvSpPr>
          <p:cNvPr id="5" name="Text 3"/>
          <p:cNvSpPr/>
          <p:nvPr/>
        </p:nvSpPr>
        <p:spPr>
          <a:xfrm>
            <a:off x="780336" y="3273028"/>
            <a:ext cx="6307455" cy="826175"/>
          </a:xfrm>
          <a:prstGeom prst="rect">
            <a:avLst/>
          </a:prstGeom>
          <a:noFill/>
          <a:ln/>
        </p:spPr>
        <p:txBody>
          <a:bodyPr wrap="squar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The algorithm handles base cases (individual symbols) and recursively combines automata for union, concatenation, and Kleene star operations using ε-transitions.</a:t>
            </a:r>
            <a:endParaRPr lang="en-US" sz="1450" dirty="0"/>
          </a:p>
        </p:txBody>
      </p:sp>
      <p:sp>
        <p:nvSpPr>
          <p:cNvPr id="6" name="Text 4"/>
          <p:cNvSpPr/>
          <p:nvPr/>
        </p:nvSpPr>
        <p:spPr>
          <a:xfrm>
            <a:off x="7550229" y="1836420"/>
            <a:ext cx="3014424" cy="310753"/>
          </a:xfrm>
          <a:prstGeom prst="rect">
            <a:avLst/>
          </a:prstGeom>
          <a:noFill/>
          <a:ln/>
        </p:spPr>
        <p:txBody>
          <a:bodyPr wrap="none" lIns="0" tIns="0" rIns="0" bIns="0" rtlCol="0" anchor="t"/>
          <a:lstStyle/>
          <a:p>
            <a:pPr marL="0" indent="0" algn="l">
              <a:lnSpc>
                <a:spcPts val="2400"/>
              </a:lnSpc>
              <a:buNone/>
            </a:pPr>
            <a:r>
              <a:rPr lang="en-US" sz="1950" b="1" dirty="0">
                <a:solidFill>
                  <a:srgbClr val="F0FCFF"/>
                </a:solidFill>
                <a:latin typeface="Spline Sans Bold" pitchFamily="34" charset="0"/>
                <a:ea typeface="Spline Sans Bold" pitchFamily="34" charset="-122"/>
                <a:cs typeface="Spline Sans Bold" pitchFamily="34" charset="-120"/>
              </a:rPr>
              <a:t>FA → Regular Expressions</a:t>
            </a:r>
            <a:endParaRPr lang="en-US" sz="1950" dirty="0"/>
          </a:p>
        </p:txBody>
      </p:sp>
      <p:sp>
        <p:nvSpPr>
          <p:cNvPr id="7" name="Text 5"/>
          <p:cNvSpPr/>
          <p:nvPr/>
        </p:nvSpPr>
        <p:spPr>
          <a:xfrm>
            <a:off x="7550229" y="2304931"/>
            <a:ext cx="6307455" cy="1101566"/>
          </a:xfrm>
          <a:prstGeom prst="rect">
            <a:avLst/>
          </a:prstGeom>
          <a:noFill/>
          <a:ln/>
        </p:spPr>
        <p:txBody>
          <a:bodyPr wrap="squar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Conversely, any finite automaton can be converted to an equivalent regular expression. State elimination methods systematically remove states while maintaining language equivalence, ultimately producing a RE that describes the same language.</a:t>
            </a:r>
            <a:endParaRPr lang="en-US" sz="1450" dirty="0"/>
          </a:p>
        </p:txBody>
      </p:sp>
      <p:sp>
        <p:nvSpPr>
          <p:cNvPr id="8" name="Text 6"/>
          <p:cNvSpPr/>
          <p:nvPr/>
        </p:nvSpPr>
        <p:spPr>
          <a:xfrm>
            <a:off x="7550229" y="3548420"/>
            <a:ext cx="6307455" cy="550783"/>
          </a:xfrm>
          <a:prstGeom prst="rect">
            <a:avLst/>
          </a:prstGeom>
          <a:noFill/>
          <a:ln/>
        </p:spPr>
        <p:txBody>
          <a:bodyPr wrap="squar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This bidirectional conversion proves that regular expressions and finite automata have equivalent expressive power.</a:t>
            </a:r>
            <a:endParaRPr lang="en-US" sz="1450" dirty="0"/>
          </a:p>
        </p:txBody>
      </p:sp>
      <p:pic>
        <p:nvPicPr>
          <p:cNvPr id="9" name="Image 0" descr="preencoded.png"/>
          <p:cNvPicPr>
            <a:picLocks noChangeAspect="1"/>
          </p:cNvPicPr>
          <p:nvPr/>
        </p:nvPicPr>
        <p:blipFill>
          <a:blip r:embed="rId3"/>
          <a:stretch>
            <a:fillRect/>
          </a:stretch>
        </p:blipFill>
        <p:spPr>
          <a:xfrm>
            <a:off x="780336" y="4418648"/>
            <a:ext cx="4356497" cy="745808"/>
          </a:xfrm>
          <a:prstGeom prst="rect">
            <a:avLst/>
          </a:prstGeom>
        </p:spPr>
      </p:pic>
      <p:sp>
        <p:nvSpPr>
          <p:cNvPr id="10" name="Text 7"/>
          <p:cNvSpPr/>
          <p:nvPr/>
        </p:nvSpPr>
        <p:spPr>
          <a:xfrm>
            <a:off x="966788" y="5322213"/>
            <a:ext cx="2071688" cy="258961"/>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Regular Expression</a:t>
            </a:r>
            <a:endParaRPr lang="en-US" sz="1600" dirty="0"/>
          </a:p>
        </p:txBody>
      </p:sp>
      <p:sp>
        <p:nvSpPr>
          <p:cNvPr id="11" name="Text 8"/>
          <p:cNvSpPr/>
          <p:nvPr/>
        </p:nvSpPr>
        <p:spPr>
          <a:xfrm>
            <a:off x="966788" y="5675828"/>
            <a:ext cx="3983593" cy="275392"/>
          </a:xfrm>
          <a:prstGeom prst="rect">
            <a:avLst/>
          </a:prstGeom>
          <a:noFill/>
          <a:ln/>
        </p:spPr>
        <p:txBody>
          <a:bodyPr wrap="non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Formal pattern notation</a:t>
            </a:r>
            <a:endParaRPr lang="en-US" sz="1450" dirty="0"/>
          </a:p>
        </p:txBody>
      </p:sp>
      <p:pic>
        <p:nvPicPr>
          <p:cNvPr id="12" name="Image 1" descr="preencoded.png"/>
          <p:cNvPicPr>
            <a:picLocks noChangeAspect="1"/>
          </p:cNvPicPr>
          <p:nvPr/>
        </p:nvPicPr>
        <p:blipFill>
          <a:blip r:embed="rId4"/>
          <a:stretch>
            <a:fillRect/>
          </a:stretch>
        </p:blipFill>
        <p:spPr>
          <a:xfrm>
            <a:off x="5136833" y="4418648"/>
            <a:ext cx="4356616" cy="745808"/>
          </a:xfrm>
          <a:prstGeom prst="rect">
            <a:avLst/>
          </a:prstGeom>
        </p:spPr>
      </p:pic>
      <p:sp>
        <p:nvSpPr>
          <p:cNvPr id="13" name="Text 9"/>
          <p:cNvSpPr/>
          <p:nvPr/>
        </p:nvSpPr>
        <p:spPr>
          <a:xfrm>
            <a:off x="5323284" y="5322213"/>
            <a:ext cx="2071688" cy="258961"/>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Nondeterministic FA</a:t>
            </a:r>
            <a:endParaRPr lang="en-US" sz="1600" dirty="0"/>
          </a:p>
        </p:txBody>
      </p:sp>
      <p:sp>
        <p:nvSpPr>
          <p:cNvPr id="14" name="Text 10"/>
          <p:cNvSpPr/>
          <p:nvPr/>
        </p:nvSpPr>
        <p:spPr>
          <a:xfrm>
            <a:off x="5323284" y="5675828"/>
            <a:ext cx="3983712" cy="275392"/>
          </a:xfrm>
          <a:prstGeom prst="rect">
            <a:avLst/>
          </a:prstGeom>
          <a:noFill/>
          <a:ln/>
        </p:spPr>
        <p:txBody>
          <a:bodyPr wrap="non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Automaton with ε-moves</a:t>
            </a:r>
            <a:endParaRPr lang="en-US" sz="1450" dirty="0"/>
          </a:p>
        </p:txBody>
      </p:sp>
      <p:pic>
        <p:nvPicPr>
          <p:cNvPr id="15" name="Image 2" descr="preencoded.png"/>
          <p:cNvPicPr>
            <a:picLocks noChangeAspect="1"/>
          </p:cNvPicPr>
          <p:nvPr/>
        </p:nvPicPr>
        <p:blipFill>
          <a:blip r:embed="rId5"/>
          <a:stretch>
            <a:fillRect/>
          </a:stretch>
        </p:blipFill>
        <p:spPr>
          <a:xfrm>
            <a:off x="9493448" y="4418648"/>
            <a:ext cx="4356497" cy="745808"/>
          </a:xfrm>
          <a:prstGeom prst="rect">
            <a:avLst/>
          </a:prstGeom>
        </p:spPr>
      </p:pic>
      <p:sp>
        <p:nvSpPr>
          <p:cNvPr id="16" name="Text 11"/>
          <p:cNvSpPr/>
          <p:nvPr/>
        </p:nvSpPr>
        <p:spPr>
          <a:xfrm>
            <a:off x="9679900" y="5322213"/>
            <a:ext cx="2071688" cy="258961"/>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Deterministic FA</a:t>
            </a:r>
            <a:endParaRPr lang="en-US" sz="1600" dirty="0"/>
          </a:p>
        </p:txBody>
      </p:sp>
      <p:sp>
        <p:nvSpPr>
          <p:cNvPr id="17" name="Text 12"/>
          <p:cNvSpPr/>
          <p:nvPr/>
        </p:nvSpPr>
        <p:spPr>
          <a:xfrm>
            <a:off x="9679900" y="5675828"/>
            <a:ext cx="3983593" cy="275392"/>
          </a:xfrm>
          <a:prstGeom prst="rect">
            <a:avLst/>
          </a:prstGeom>
          <a:noFill/>
          <a:ln/>
        </p:spPr>
        <p:txBody>
          <a:bodyPr wrap="none" lIns="0" tIns="0" rIns="0" bIns="0" rtlCol="0" anchor="t"/>
          <a:lstStyle/>
          <a:p>
            <a:pPr marL="0" indent="0" algn="l">
              <a:lnSpc>
                <a:spcPts val="2150"/>
              </a:lnSpc>
              <a:buNone/>
            </a:pPr>
            <a:r>
              <a:rPr lang="en-US" sz="1450" dirty="0">
                <a:solidFill>
                  <a:srgbClr val="E0E4E6"/>
                </a:solidFill>
                <a:latin typeface="Barlow" pitchFamily="34" charset="0"/>
                <a:ea typeface="Barlow" pitchFamily="34" charset="-122"/>
                <a:cs typeface="Barlow" pitchFamily="34" charset="-120"/>
              </a:rPr>
              <a:t>Canonical machine model</a:t>
            </a:r>
            <a:endParaRPr lang="en-US" sz="1450" dirty="0"/>
          </a:p>
        </p:txBody>
      </p:sp>
      <p:sp>
        <p:nvSpPr>
          <p:cNvPr id="18" name="Shape 13"/>
          <p:cNvSpPr/>
          <p:nvPr/>
        </p:nvSpPr>
        <p:spPr>
          <a:xfrm>
            <a:off x="780336" y="6315194"/>
            <a:ext cx="13069729" cy="990243"/>
          </a:xfrm>
          <a:prstGeom prst="roundRect">
            <a:avLst>
              <a:gd name="adj" fmla="val 28244"/>
            </a:avLst>
          </a:prstGeom>
          <a:solidFill>
            <a:srgbClr val="004D36"/>
          </a:solidFill>
          <a:ln/>
        </p:spPr>
      </p:sp>
      <p:pic>
        <p:nvPicPr>
          <p:cNvPr id="19" name="Image 3" descr="preencoded.png"/>
          <p:cNvPicPr>
            <a:picLocks noChangeAspect="1"/>
          </p:cNvPicPr>
          <p:nvPr/>
        </p:nvPicPr>
        <p:blipFill>
          <a:blip r:embed="rId6"/>
          <a:stretch>
            <a:fillRect/>
          </a:stretch>
        </p:blipFill>
        <p:spPr>
          <a:xfrm>
            <a:off x="966788" y="6590705"/>
            <a:ext cx="233005" cy="186452"/>
          </a:xfrm>
          <a:prstGeom prst="rect">
            <a:avLst/>
          </a:prstGeom>
        </p:spPr>
      </p:pic>
      <p:sp>
        <p:nvSpPr>
          <p:cNvPr id="20" name="Text 14"/>
          <p:cNvSpPr/>
          <p:nvPr/>
        </p:nvSpPr>
        <p:spPr>
          <a:xfrm>
            <a:off x="1386245" y="6519505"/>
            <a:ext cx="12277368" cy="550783"/>
          </a:xfrm>
          <a:prstGeom prst="rect">
            <a:avLst/>
          </a:prstGeom>
          <a:noFill/>
          <a:ln/>
        </p:spPr>
        <p:txBody>
          <a:bodyPr wrap="square" lIns="0" tIns="0" rIns="0" bIns="0" rtlCol="0" anchor="t"/>
          <a:lstStyle/>
          <a:p>
            <a:pPr marL="0" indent="0" algn="l">
              <a:lnSpc>
                <a:spcPts val="2150"/>
              </a:lnSpc>
              <a:buNone/>
            </a:pPr>
            <a:r>
              <a:rPr lang="en-US" sz="1450" b="1" dirty="0">
                <a:solidFill>
                  <a:srgbClr val="FFFFFF"/>
                </a:solidFill>
                <a:latin typeface="Barlow" pitchFamily="34" charset="0"/>
                <a:ea typeface="Barlow" pitchFamily="34" charset="-122"/>
                <a:cs typeface="Barlow" pitchFamily="34" charset="-120"/>
              </a:rPr>
              <a:t>Key Insight:</a:t>
            </a:r>
            <a:r>
              <a:rPr lang="en-US" sz="1450" dirty="0">
                <a:solidFill>
                  <a:srgbClr val="FFFFFF"/>
                </a:solidFill>
                <a:latin typeface="Barlow" pitchFamily="34" charset="0"/>
                <a:ea typeface="Barlow" pitchFamily="34" charset="-122"/>
                <a:cs typeface="Barlow" pitchFamily="34" charset="-120"/>
              </a:rPr>
              <a:t> Regular expressions, NFAs, and DFAs all describe exactly the same class of languages—the regular languages. This equivalence is fundamental to automata theory.</a:t>
            </a:r>
            <a:endParaRPr lang="en-US" sz="1450" dirty="0"/>
          </a:p>
        </p:txBody>
      </p:sp>
      <p:sp>
        <p:nvSpPr>
          <p:cNvPr id="21" name="Rectangle 20">
            <a:extLst>
              <a:ext uri="{FF2B5EF4-FFF2-40B4-BE49-F238E27FC236}">
                <a16:creationId xmlns:a16="http://schemas.microsoft.com/office/drawing/2014/main" id="{8310A902-9168-DCF5-98D7-2A076727BE02}"/>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6D2A1C-4087-B436-1BDA-1C2EE3DC6CD7}"/>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5795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EAEB80-7D94-913E-E361-FD3A5F6A9E1F}"/>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814423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46296" y="1350288"/>
            <a:ext cx="8673703" cy="512683"/>
          </a:xfrm>
          <a:prstGeom prst="rect">
            <a:avLst/>
          </a:prstGeom>
          <a:noFill/>
          <a:ln/>
        </p:spPr>
        <p:txBody>
          <a:bodyPr wrap="none" lIns="0" tIns="0" rIns="0" bIns="0" rtlCol="0" anchor="t"/>
          <a:lstStyle/>
          <a:p>
            <a:pPr marL="0" indent="0" algn="l">
              <a:lnSpc>
                <a:spcPts val="4000"/>
              </a:lnSpc>
              <a:buNone/>
            </a:pPr>
            <a:r>
              <a:rPr lang="en-US" sz="3200" b="1" dirty="0">
                <a:solidFill>
                  <a:srgbClr val="F0FCFF"/>
                </a:solidFill>
                <a:latin typeface="Spline Sans Bold" pitchFamily="34" charset="0"/>
                <a:ea typeface="Spline Sans Bold" pitchFamily="34" charset="-122"/>
                <a:cs typeface="Spline Sans Bold" pitchFamily="34" charset="-120"/>
              </a:rPr>
              <a:t>Real-Life Applications of Regular Expressions</a:t>
            </a:r>
            <a:endParaRPr lang="en-US" sz="3200" dirty="0"/>
          </a:p>
        </p:txBody>
      </p:sp>
      <p:sp>
        <p:nvSpPr>
          <p:cNvPr id="3" name="Text 1"/>
          <p:cNvSpPr/>
          <p:nvPr/>
        </p:nvSpPr>
        <p:spPr>
          <a:xfrm>
            <a:off x="846296" y="2172176"/>
            <a:ext cx="12937808" cy="542449"/>
          </a:xfrm>
          <a:prstGeom prst="rect">
            <a:avLst/>
          </a:prstGeom>
          <a:noFill/>
          <a:ln/>
        </p:spPr>
        <p:txBody>
          <a:bodyPr wrap="square" lIns="0" tIns="0" rIns="0" bIns="0" rtlCol="0" anchor="t"/>
          <a:lstStyle/>
          <a:p>
            <a:pPr marL="0" indent="0" algn="l">
              <a:lnSpc>
                <a:spcPts val="2100"/>
              </a:lnSpc>
              <a:buNone/>
            </a:pPr>
            <a:r>
              <a:rPr lang="en-US" sz="1450" dirty="0">
                <a:solidFill>
                  <a:srgbClr val="E0E4E6"/>
                </a:solidFill>
                <a:latin typeface="Barlow" pitchFamily="34" charset="0"/>
                <a:ea typeface="Barlow" pitchFamily="34" charset="-122"/>
                <a:cs typeface="Barlow" pitchFamily="34" charset="-120"/>
              </a:rPr>
              <a:t>Regular expressions transcend theoretical computer science and power numerous practical applications in software development, data processing, and system administration. Their ability to efficiently match complex patterns makes them indispensable in modern computing.</a:t>
            </a:r>
            <a:endParaRPr lang="en-US" sz="1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6296" y="2888575"/>
            <a:ext cx="461367" cy="461367"/>
          </a:xfrm>
          <a:prstGeom prst="rect">
            <a:avLst/>
          </a:prstGeom>
        </p:spPr>
      </p:pic>
      <p:sp>
        <p:nvSpPr>
          <p:cNvPr id="5" name="Text 2"/>
          <p:cNvSpPr/>
          <p:nvPr/>
        </p:nvSpPr>
        <p:spPr>
          <a:xfrm>
            <a:off x="1500902" y="2888575"/>
            <a:ext cx="3452813" cy="256223"/>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Pattern Matching in Text Processing</a:t>
            </a:r>
            <a:endParaRPr lang="en-US" sz="1600" dirty="0"/>
          </a:p>
        </p:txBody>
      </p:sp>
      <p:sp>
        <p:nvSpPr>
          <p:cNvPr id="6" name="Text 3"/>
          <p:cNvSpPr/>
          <p:nvPr/>
        </p:nvSpPr>
        <p:spPr>
          <a:xfrm>
            <a:off x="1500902" y="3237548"/>
            <a:ext cx="5717619" cy="1356122"/>
          </a:xfrm>
          <a:prstGeom prst="rect">
            <a:avLst/>
          </a:prstGeom>
          <a:noFill/>
          <a:ln/>
        </p:spPr>
        <p:txBody>
          <a:bodyPr wrap="square" lIns="0" tIns="0" rIns="0" bIns="0" rtlCol="0" anchor="t"/>
          <a:lstStyle/>
          <a:p>
            <a:pPr marL="0" indent="0" algn="l">
              <a:lnSpc>
                <a:spcPts val="2100"/>
              </a:lnSpc>
              <a:buNone/>
            </a:pPr>
            <a:r>
              <a:rPr lang="en-US" sz="1450" dirty="0">
                <a:solidFill>
                  <a:srgbClr val="E0E4E6"/>
                </a:solidFill>
                <a:latin typeface="Barlow" pitchFamily="34" charset="0"/>
                <a:ea typeface="Barlow" pitchFamily="34" charset="-122"/>
                <a:cs typeface="Barlow" pitchFamily="34" charset="-120"/>
              </a:rPr>
              <a:t>Search engines use RE to find documents matching complex queries. Text editors employ RE for powerful find-and-replace operations. Log analysis tools use RE to extract specific patterns from system logs. Data mining applications leverage RE to identify structured information within unstructured text.</a:t>
            </a:r>
            <a:endParaRPr lang="en-US" sz="14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11760" y="2888575"/>
            <a:ext cx="461367" cy="461367"/>
          </a:xfrm>
          <a:prstGeom prst="rect">
            <a:avLst/>
          </a:prstGeom>
        </p:spPr>
      </p:pic>
      <p:sp>
        <p:nvSpPr>
          <p:cNvPr id="8" name="Text 4"/>
          <p:cNvSpPr/>
          <p:nvPr/>
        </p:nvSpPr>
        <p:spPr>
          <a:xfrm>
            <a:off x="8066365" y="2888575"/>
            <a:ext cx="2776657" cy="256223"/>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Input Validation and Security</a:t>
            </a:r>
            <a:endParaRPr lang="en-US" sz="1600" dirty="0"/>
          </a:p>
        </p:txBody>
      </p:sp>
      <p:sp>
        <p:nvSpPr>
          <p:cNvPr id="9" name="Text 5"/>
          <p:cNvSpPr/>
          <p:nvPr/>
        </p:nvSpPr>
        <p:spPr>
          <a:xfrm>
            <a:off x="8066365" y="3237548"/>
            <a:ext cx="5717738" cy="1356122"/>
          </a:xfrm>
          <a:prstGeom prst="rect">
            <a:avLst/>
          </a:prstGeom>
          <a:noFill/>
          <a:ln/>
        </p:spPr>
        <p:txBody>
          <a:bodyPr wrap="square" lIns="0" tIns="0" rIns="0" bIns="0" rtlCol="0" anchor="t"/>
          <a:lstStyle/>
          <a:p>
            <a:pPr marL="0" indent="0" algn="l">
              <a:lnSpc>
                <a:spcPts val="2100"/>
              </a:lnSpc>
              <a:buNone/>
            </a:pPr>
            <a:r>
              <a:rPr lang="en-US" sz="1450" dirty="0">
                <a:solidFill>
                  <a:srgbClr val="E0E4E6"/>
                </a:solidFill>
                <a:latin typeface="Barlow" pitchFamily="34" charset="0"/>
                <a:ea typeface="Barlow" pitchFamily="34" charset="-122"/>
                <a:cs typeface="Barlow" pitchFamily="34" charset="-120"/>
              </a:rPr>
              <a:t>Web forms use RE to validate email addresses, phone numbers, and passwords before submission. API endpoints employ RE to sanitize user input and prevent injection attacks. Configuration parsers use RE to ensure data conforms to expected formats. Database systems use RE constraints to maintain data integrity at the schema level.</a:t>
            </a:r>
            <a:endParaRPr lang="en-US" sz="14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6296" y="4902875"/>
            <a:ext cx="461367" cy="461367"/>
          </a:xfrm>
          <a:prstGeom prst="rect">
            <a:avLst/>
          </a:prstGeom>
        </p:spPr>
      </p:pic>
      <p:sp>
        <p:nvSpPr>
          <p:cNvPr id="11" name="Text 6"/>
          <p:cNvSpPr/>
          <p:nvPr/>
        </p:nvSpPr>
        <p:spPr>
          <a:xfrm>
            <a:off x="1500902" y="4902875"/>
            <a:ext cx="2787491" cy="256223"/>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Lexical Analysis in Compilers</a:t>
            </a:r>
            <a:endParaRPr lang="en-US" sz="1600" dirty="0"/>
          </a:p>
        </p:txBody>
      </p:sp>
      <p:sp>
        <p:nvSpPr>
          <p:cNvPr id="12" name="Text 7"/>
          <p:cNvSpPr/>
          <p:nvPr/>
        </p:nvSpPr>
        <p:spPr>
          <a:xfrm>
            <a:off x="1500902" y="5251847"/>
            <a:ext cx="5717619" cy="1627346"/>
          </a:xfrm>
          <a:prstGeom prst="rect">
            <a:avLst/>
          </a:prstGeom>
          <a:noFill/>
          <a:ln/>
        </p:spPr>
        <p:txBody>
          <a:bodyPr wrap="square" lIns="0" tIns="0" rIns="0" bIns="0" rtlCol="0" anchor="t"/>
          <a:lstStyle/>
          <a:p>
            <a:pPr marL="0" indent="0" algn="l">
              <a:lnSpc>
                <a:spcPts val="2100"/>
              </a:lnSpc>
              <a:buNone/>
            </a:pPr>
            <a:r>
              <a:rPr lang="en-US" sz="1450" dirty="0">
                <a:solidFill>
                  <a:srgbClr val="E0E4E6"/>
                </a:solidFill>
                <a:latin typeface="Barlow" pitchFamily="34" charset="0"/>
                <a:ea typeface="Barlow" pitchFamily="34" charset="-122"/>
                <a:cs typeface="Barlow" pitchFamily="34" charset="-120"/>
              </a:rPr>
              <a:t>Compiler front-ends use RE to define token patterns for keywords, identifiers, and operators. Lexer generators like Lex and Flex convert RE specifications into efficient tokenizers. Syntax highlighters in IDEs use RE to identify language constructs. Regular expressions enable the first phase of compilation—breaking source code into meaningful tokens.</a:t>
            </a:r>
            <a:endParaRPr lang="en-US" sz="14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11760" y="4902875"/>
            <a:ext cx="461367" cy="461367"/>
          </a:xfrm>
          <a:prstGeom prst="rect">
            <a:avLst/>
          </a:prstGeom>
        </p:spPr>
      </p:pic>
      <p:sp>
        <p:nvSpPr>
          <p:cNvPr id="14" name="Text 8"/>
          <p:cNvSpPr/>
          <p:nvPr/>
        </p:nvSpPr>
        <p:spPr>
          <a:xfrm>
            <a:off x="8066365" y="4902875"/>
            <a:ext cx="2854762" cy="256223"/>
          </a:xfrm>
          <a:prstGeom prst="rect">
            <a:avLst/>
          </a:prstGeom>
          <a:noFill/>
          <a:ln/>
        </p:spPr>
        <p:txBody>
          <a:bodyPr wrap="none" lIns="0" tIns="0" rIns="0" bIns="0" rtlCol="0" anchor="t"/>
          <a:lstStyle/>
          <a:p>
            <a:pPr marL="0" indent="0" algn="l">
              <a:lnSpc>
                <a:spcPts val="2000"/>
              </a:lnSpc>
              <a:buNone/>
            </a:pPr>
            <a:r>
              <a:rPr lang="en-US" sz="1600" b="1" dirty="0">
                <a:solidFill>
                  <a:srgbClr val="E0E4E6"/>
                </a:solidFill>
                <a:latin typeface="Spline Sans Bold" pitchFamily="34" charset="0"/>
                <a:ea typeface="Spline Sans Bold" pitchFamily="34" charset="-122"/>
                <a:cs typeface="Spline Sans Bold" pitchFamily="34" charset="-120"/>
              </a:rPr>
              <a:t>Network and Data Processing</a:t>
            </a:r>
            <a:endParaRPr lang="en-US" sz="1600" dirty="0"/>
          </a:p>
        </p:txBody>
      </p:sp>
      <p:sp>
        <p:nvSpPr>
          <p:cNvPr id="15" name="Text 9"/>
          <p:cNvSpPr/>
          <p:nvPr/>
        </p:nvSpPr>
        <p:spPr>
          <a:xfrm>
            <a:off x="8066365" y="5251847"/>
            <a:ext cx="5717738" cy="1356122"/>
          </a:xfrm>
          <a:prstGeom prst="rect">
            <a:avLst/>
          </a:prstGeom>
          <a:noFill/>
          <a:ln/>
        </p:spPr>
        <p:txBody>
          <a:bodyPr wrap="square" lIns="0" tIns="0" rIns="0" bIns="0" rtlCol="0" anchor="t"/>
          <a:lstStyle/>
          <a:p>
            <a:pPr marL="0" indent="0" algn="l">
              <a:lnSpc>
                <a:spcPts val="2100"/>
              </a:lnSpc>
              <a:buNone/>
            </a:pPr>
            <a:r>
              <a:rPr lang="en-US" sz="1450" dirty="0">
                <a:solidFill>
                  <a:srgbClr val="E0E4E6"/>
                </a:solidFill>
                <a:latin typeface="Barlow" pitchFamily="34" charset="0"/>
                <a:ea typeface="Barlow" pitchFamily="34" charset="-122"/>
                <a:cs typeface="Barlow" pitchFamily="34" charset="-120"/>
              </a:rPr>
              <a:t>Network routers use RE for packet filtering and firewall rules. Data transformation pipelines employ RE for format conversion. Bioinformatics tools use RE to search DNA sequences. Web scraping applications leverage RE to extract structured data from HTML documents.</a:t>
            </a:r>
            <a:endParaRPr lang="en-US" sz="1450" dirty="0"/>
          </a:p>
        </p:txBody>
      </p:sp>
      <p:sp>
        <p:nvSpPr>
          <p:cNvPr id="16" name="Rectangle 15">
            <a:extLst>
              <a:ext uri="{FF2B5EF4-FFF2-40B4-BE49-F238E27FC236}">
                <a16:creationId xmlns:a16="http://schemas.microsoft.com/office/drawing/2014/main" id="{CB58416A-DEED-C513-13DA-D6862BBB0989}"/>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6960" y="1164669"/>
            <a:ext cx="3725823" cy="465653"/>
          </a:xfrm>
          <a:prstGeom prst="rect">
            <a:avLst/>
          </a:prstGeom>
          <a:noFill/>
          <a:ln/>
        </p:spPr>
        <p:txBody>
          <a:bodyPr wrap="none" lIns="0" tIns="0" rIns="0" bIns="0" rtlCol="0" anchor="t"/>
          <a:lstStyle/>
          <a:p>
            <a:pPr marL="0" indent="0" algn="l">
              <a:lnSpc>
                <a:spcPts val="3650"/>
              </a:lnSpc>
              <a:buNone/>
            </a:pPr>
            <a:r>
              <a:rPr lang="en-US" sz="2900" b="1" dirty="0">
                <a:solidFill>
                  <a:srgbClr val="F0FCFF"/>
                </a:solidFill>
                <a:latin typeface="Spline Sans Bold" pitchFamily="34" charset="0"/>
                <a:ea typeface="Spline Sans Bold" pitchFamily="34" charset="-122"/>
                <a:cs typeface="Spline Sans Bold" pitchFamily="34" charset="-120"/>
              </a:rPr>
              <a:t>Conclusion</a:t>
            </a:r>
            <a:endParaRPr lang="en-US" sz="2900" dirty="0"/>
          </a:p>
        </p:txBody>
      </p:sp>
      <p:sp>
        <p:nvSpPr>
          <p:cNvPr id="4" name="Shape 1"/>
          <p:cNvSpPr/>
          <p:nvPr/>
        </p:nvSpPr>
        <p:spPr>
          <a:xfrm>
            <a:off x="6156960" y="1821656"/>
            <a:ext cx="3837623" cy="2013942"/>
          </a:xfrm>
          <a:prstGeom prst="roundRect">
            <a:avLst>
              <a:gd name="adj" fmla="val 12488"/>
            </a:avLst>
          </a:prstGeom>
          <a:solidFill>
            <a:srgbClr val="0A081B"/>
          </a:solidFill>
          <a:ln w="15240">
            <a:solidFill>
              <a:srgbClr val="16FFBB"/>
            </a:solidFill>
            <a:prstDash val="solid"/>
          </a:ln>
        </p:spPr>
      </p:sp>
      <p:sp>
        <p:nvSpPr>
          <p:cNvPr id="5" name="Shape 2"/>
          <p:cNvSpPr/>
          <p:nvPr/>
        </p:nvSpPr>
        <p:spPr>
          <a:xfrm>
            <a:off x="6339840" y="2004536"/>
            <a:ext cx="502920" cy="502920"/>
          </a:xfrm>
          <a:prstGeom prst="roundRect">
            <a:avLst>
              <a:gd name="adj" fmla="val 18180000"/>
            </a:avLst>
          </a:prstGeom>
          <a:solidFill>
            <a:srgbClr val="16FFBB"/>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8072" y="2142768"/>
            <a:ext cx="226338" cy="226338"/>
          </a:xfrm>
          <a:prstGeom prst="rect">
            <a:avLst/>
          </a:prstGeom>
        </p:spPr>
      </p:pic>
      <p:sp>
        <p:nvSpPr>
          <p:cNvPr id="7" name="Text 3"/>
          <p:cNvSpPr/>
          <p:nvPr/>
        </p:nvSpPr>
        <p:spPr>
          <a:xfrm>
            <a:off x="6339840" y="2634972"/>
            <a:ext cx="1862852" cy="232886"/>
          </a:xfrm>
          <a:prstGeom prst="rect">
            <a:avLst/>
          </a:prstGeom>
          <a:noFill/>
          <a:ln/>
        </p:spPr>
        <p:txBody>
          <a:bodyPr wrap="none" lIns="0" tIns="0" rIns="0" bIns="0" rtlCol="0" anchor="t"/>
          <a:lstStyle/>
          <a:p>
            <a:pPr marL="0" indent="0" algn="l">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Formal Foundation</a:t>
            </a:r>
            <a:endParaRPr lang="en-US" sz="1450" dirty="0"/>
          </a:p>
        </p:txBody>
      </p:sp>
      <p:sp>
        <p:nvSpPr>
          <p:cNvPr id="8" name="Text 4"/>
          <p:cNvSpPr/>
          <p:nvPr/>
        </p:nvSpPr>
        <p:spPr>
          <a:xfrm>
            <a:off x="6339840" y="2944416"/>
            <a:ext cx="3471863" cy="708303"/>
          </a:xfrm>
          <a:prstGeom prst="rect">
            <a:avLst/>
          </a:prstGeom>
          <a:noFill/>
          <a:ln/>
        </p:spPr>
        <p:txBody>
          <a:bodyPr wrap="square" lIns="0" tIns="0" rIns="0" bIns="0" rtlCol="0" anchor="t"/>
          <a:lstStyle/>
          <a:p>
            <a:pPr marL="0" indent="0" algn="l">
              <a:lnSpc>
                <a:spcPts val="1850"/>
              </a:lnSpc>
              <a:buNone/>
            </a:pPr>
            <a:r>
              <a:rPr lang="en-US" sz="1300" dirty="0">
                <a:solidFill>
                  <a:srgbClr val="E0E4E6"/>
                </a:solidFill>
                <a:latin typeface="Barlow" pitchFamily="34" charset="0"/>
                <a:ea typeface="Barlow" pitchFamily="34" charset="-122"/>
                <a:cs typeface="Barlow" pitchFamily="34" charset="-120"/>
              </a:rPr>
              <a:t>Regular expressions provide a rigorous mathematical framework for describing string patterns and characterizing regular languages.</a:t>
            </a:r>
            <a:endParaRPr lang="en-US" sz="1300" dirty="0"/>
          </a:p>
        </p:txBody>
      </p:sp>
      <p:sp>
        <p:nvSpPr>
          <p:cNvPr id="9" name="Shape 5"/>
          <p:cNvSpPr/>
          <p:nvPr/>
        </p:nvSpPr>
        <p:spPr>
          <a:xfrm>
            <a:off x="10122098" y="1821656"/>
            <a:ext cx="3837742" cy="2013942"/>
          </a:xfrm>
          <a:prstGeom prst="roundRect">
            <a:avLst>
              <a:gd name="adj" fmla="val 12488"/>
            </a:avLst>
          </a:prstGeom>
          <a:solidFill>
            <a:srgbClr val="0A081B"/>
          </a:solidFill>
          <a:ln w="15240">
            <a:solidFill>
              <a:srgbClr val="29DDDA"/>
            </a:solidFill>
            <a:prstDash val="solid"/>
          </a:ln>
        </p:spPr>
      </p:sp>
      <p:sp>
        <p:nvSpPr>
          <p:cNvPr id="10" name="Shape 6"/>
          <p:cNvSpPr/>
          <p:nvPr/>
        </p:nvSpPr>
        <p:spPr>
          <a:xfrm>
            <a:off x="10304978" y="2004536"/>
            <a:ext cx="502920" cy="502920"/>
          </a:xfrm>
          <a:prstGeom prst="roundRect">
            <a:avLst>
              <a:gd name="adj" fmla="val 18180000"/>
            </a:avLst>
          </a:prstGeom>
          <a:solidFill>
            <a:srgbClr val="29DDDA"/>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43210" y="2142768"/>
            <a:ext cx="226338" cy="226338"/>
          </a:xfrm>
          <a:prstGeom prst="rect">
            <a:avLst/>
          </a:prstGeom>
        </p:spPr>
      </p:pic>
      <p:sp>
        <p:nvSpPr>
          <p:cNvPr id="12" name="Text 7"/>
          <p:cNvSpPr/>
          <p:nvPr/>
        </p:nvSpPr>
        <p:spPr>
          <a:xfrm>
            <a:off x="10304978" y="2634972"/>
            <a:ext cx="2391728" cy="232886"/>
          </a:xfrm>
          <a:prstGeom prst="rect">
            <a:avLst/>
          </a:prstGeom>
          <a:noFill/>
          <a:ln/>
        </p:spPr>
        <p:txBody>
          <a:bodyPr wrap="none" lIns="0" tIns="0" rIns="0" bIns="0" rtlCol="0" anchor="t"/>
          <a:lstStyle/>
          <a:p>
            <a:pPr marL="0" indent="0" algn="l">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Equivalence with Automata</a:t>
            </a:r>
            <a:endParaRPr lang="en-US" sz="1450" dirty="0"/>
          </a:p>
        </p:txBody>
      </p:sp>
      <p:sp>
        <p:nvSpPr>
          <p:cNvPr id="13" name="Text 8"/>
          <p:cNvSpPr/>
          <p:nvPr/>
        </p:nvSpPr>
        <p:spPr>
          <a:xfrm>
            <a:off x="10304978" y="2944416"/>
            <a:ext cx="3471982" cy="708303"/>
          </a:xfrm>
          <a:prstGeom prst="rect">
            <a:avLst/>
          </a:prstGeom>
          <a:noFill/>
          <a:ln/>
        </p:spPr>
        <p:txBody>
          <a:bodyPr wrap="square" lIns="0" tIns="0" rIns="0" bIns="0" rtlCol="0" anchor="t"/>
          <a:lstStyle/>
          <a:p>
            <a:pPr marL="0" indent="0" algn="l">
              <a:lnSpc>
                <a:spcPts val="1850"/>
              </a:lnSpc>
              <a:buNone/>
            </a:pPr>
            <a:r>
              <a:rPr lang="en-US" sz="1300" dirty="0">
                <a:solidFill>
                  <a:srgbClr val="E0E4E6"/>
                </a:solidFill>
                <a:latin typeface="Barlow" pitchFamily="34" charset="0"/>
                <a:ea typeface="Barlow" pitchFamily="34" charset="-122"/>
                <a:cs typeface="Barlow" pitchFamily="34" charset="-120"/>
              </a:rPr>
              <a:t>RE are equivalent in power to finite automata, forming one of the three pillars of regular language theory.</a:t>
            </a:r>
            <a:endParaRPr lang="en-US" sz="1300" dirty="0"/>
          </a:p>
        </p:txBody>
      </p:sp>
      <p:sp>
        <p:nvSpPr>
          <p:cNvPr id="14" name="Shape 9"/>
          <p:cNvSpPr/>
          <p:nvPr/>
        </p:nvSpPr>
        <p:spPr>
          <a:xfrm>
            <a:off x="6156960" y="3963114"/>
            <a:ext cx="7802880" cy="1777841"/>
          </a:xfrm>
          <a:prstGeom prst="roundRect">
            <a:avLst>
              <a:gd name="adj" fmla="val 14146"/>
            </a:avLst>
          </a:prstGeom>
          <a:solidFill>
            <a:srgbClr val="0A081B"/>
          </a:solidFill>
          <a:ln w="15240">
            <a:solidFill>
              <a:srgbClr val="37A7E7"/>
            </a:solidFill>
            <a:prstDash val="solid"/>
          </a:ln>
        </p:spPr>
      </p:sp>
      <p:sp>
        <p:nvSpPr>
          <p:cNvPr id="15" name="Shape 10"/>
          <p:cNvSpPr/>
          <p:nvPr/>
        </p:nvSpPr>
        <p:spPr>
          <a:xfrm>
            <a:off x="6339840" y="4145994"/>
            <a:ext cx="502920" cy="502920"/>
          </a:xfrm>
          <a:prstGeom prst="roundRect">
            <a:avLst>
              <a:gd name="adj" fmla="val 18180000"/>
            </a:avLst>
          </a:prstGeom>
          <a:solidFill>
            <a:srgbClr val="37A7E7"/>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8072" y="4284226"/>
            <a:ext cx="226338" cy="226338"/>
          </a:xfrm>
          <a:prstGeom prst="rect">
            <a:avLst/>
          </a:prstGeom>
        </p:spPr>
      </p:pic>
      <p:sp>
        <p:nvSpPr>
          <p:cNvPr id="17" name="Text 11"/>
          <p:cNvSpPr/>
          <p:nvPr/>
        </p:nvSpPr>
        <p:spPr>
          <a:xfrm>
            <a:off x="6339840" y="4776430"/>
            <a:ext cx="1862852" cy="232886"/>
          </a:xfrm>
          <a:prstGeom prst="rect">
            <a:avLst/>
          </a:prstGeom>
          <a:noFill/>
          <a:ln/>
        </p:spPr>
        <p:txBody>
          <a:bodyPr wrap="none" lIns="0" tIns="0" rIns="0" bIns="0" rtlCol="0" anchor="t"/>
          <a:lstStyle/>
          <a:p>
            <a:pPr marL="0" indent="0" algn="l">
              <a:lnSpc>
                <a:spcPts val="1800"/>
              </a:lnSpc>
              <a:buNone/>
            </a:pPr>
            <a:r>
              <a:rPr lang="en-US" sz="1450" b="1" dirty="0">
                <a:solidFill>
                  <a:srgbClr val="E0E4E6"/>
                </a:solidFill>
                <a:latin typeface="Spline Sans Bold" pitchFamily="34" charset="0"/>
                <a:ea typeface="Spline Sans Bold" pitchFamily="34" charset="-122"/>
                <a:cs typeface="Spline Sans Bold" pitchFamily="34" charset="-120"/>
              </a:rPr>
              <a:t>Practical Utility</a:t>
            </a:r>
            <a:endParaRPr lang="en-US" sz="1450" dirty="0"/>
          </a:p>
        </p:txBody>
      </p:sp>
      <p:sp>
        <p:nvSpPr>
          <p:cNvPr id="18" name="Text 12"/>
          <p:cNvSpPr/>
          <p:nvPr/>
        </p:nvSpPr>
        <p:spPr>
          <a:xfrm>
            <a:off x="6339840" y="5085874"/>
            <a:ext cx="7437120" cy="472202"/>
          </a:xfrm>
          <a:prstGeom prst="rect">
            <a:avLst/>
          </a:prstGeom>
          <a:noFill/>
          <a:ln/>
        </p:spPr>
        <p:txBody>
          <a:bodyPr wrap="square" lIns="0" tIns="0" rIns="0" bIns="0" rtlCol="0" anchor="t"/>
          <a:lstStyle/>
          <a:p>
            <a:pPr marL="0" indent="0" algn="l">
              <a:lnSpc>
                <a:spcPts val="1850"/>
              </a:lnSpc>
              <a:buNone/>
            </a:pPr>
            <a:r>
              <a:rPr lang="en-US" sz="1300" dirty="0">
                <a:solidFill>
                  <a:srgbClr val="E0E4E6"/>
                </a:solidFill>
                <a:latin typeface="Barlow" pitchFamily="34" charset="0"/>
                <a:ea typeface="Barlow" pitchFamily="34" charset="-122"/>
                <a:cs typeface="Barlow" pitchFamily="34" charset="-120"/>
              </a:rPr>
              <a:t>From compilers to security systems, RE enable efficient pattern matching across diverse computing applications.</a:t>
            </a:r>
            <a:endParaRPr lang="en-US" sz="1300" dirty="0"/>
          </a:p>
        </p:txBody>
      </p:sp>
      <p:sp>
        <p:nvSpPr>
          <p:cNvPr id="19" name="Text 13"/>
          <p:cNvSpPr/>
          <p:nvPr/>
        </p:nvSpPr>
        <p:spPr>
          <a:xfrm>
            <a:off x="6156960" y="5884426"/>
            <a:ext cx="7802880" cy="1180505"/>
          </a:xfrm>
          <a:prstGeom prst="rect">
            <a:avLst/>
          </a:prstGeom>
          <a:noFill/>
          <a:ln/>
        </p:spPr>
        <p:txBody>
          <a:bodyPr wrap="square" lIns="0" tIns="0" rIns="0" bIns="0" rtlCol="0" anchor="t"/>
          <a:lstStyle/>
          <a:p>
            <a:pPr marL="0" indent="0" algn="l">
              <a:lnSpc>
                <a:spcPts val="1850"/>
              </a:lnSpc>
              <a:buNone/>
            </a:pPr>
            <a:r>
              <a:rPr lang="en-US" sz="1300" dirty="0">
                <a:solidFill>
                  <a:srgbClr val="E0E4E6"/>
                </a:solidFill>
                <a:latin typeface="Barlow" pitchFamily="34" charset="0"/>
                <a:ea typeface="Barlow" pitchFamily="34" charset="-122"/>
                <a:cs typeface="Barlow" pitchFamily="34" charset="-120"/>
              </a:rPr>
              <a:t>Regular expressions represent a beautiful intersection of theoretical computer science and practical software engineering. Their elegant recursive definition belies their tremendous expressive power, making them one of the most widely-used tools in modern programming. As you continue your studies in Theory of Computation, remember that RE provide the foundation for understanding more complex language classes and computational models.</a:t>
            </a:r>
            <a:endParaRPr lang="en-US" sz="1300" dirty="0"/>
          </a:p>
        </p:txBody>
      </p:sp>
      <p:sp>
        <p:nvSpPr>
          <p:cNvPr id="20" name="Rectangle 19">
            <a:extLst>
              <a:ext uri="{FF2B5EF4-FFF2-40B4-BE49-F238E27FC236}">
                <a16:creationId xmlns:a16="http://schemas.microsoft.com/office/drawing/2014/main" id="{A80ACB40-265C-6349-D989-F7D1ED564896}"/>
              </a:ext>
            </a:extLst>
          </p:cNvPr>
          <p:cNvSpPr/>
          <p:nvPr/>
        </p:nvSpPr>
        <p:spPr>
          <a:xfrm>
            <a:off x="12787312" y="7699031"/>
            <a:ext cx="1712804" cy="422962"/>
          </a:xfrm>
          <a:prstGeom prst="rect">
            <a:avLst/>
          </a:prstGeom>
          <a:solidFill>
            <a:srgbClr val="070614"/>
          </a:solidFill>
          <a:ln>
            <a:solidFill>
              <a:srgbClr val="070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1251</Words>
  <Application>Microsoft Office PowerPoint</Application>
  <PresentationFormat>Custom</PresentationFormat>
  <Paragraphs>91</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Spline Sans Bold</vt:lpstr>
      <vt:lpstr>Arial</vt:lpstr>
      <vt:lpstr>Consolas</vt:lpstr>
      <vt:lpstr>Spline Sans Light</vt: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shorya saini</cp:lastModifiedBy>
  <cp:revision>1</cp:revision>
  <dcterms:created xsi:type="dcterms:W3CDTF">2026-04-06T10:55:53Z</dcterms:created>
  <dcterms:modified xsi:type="dcterms:W3CDTF">2026-04-06T11:34:22Z</dcterms:modified>
</cp:coreProperties>
</file>